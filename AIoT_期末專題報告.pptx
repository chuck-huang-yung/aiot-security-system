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Microsoft JhengHei"/>
              </a:defRPr>
            </a:pPr>
            <a:r>
              <a:t>AIoT 智慧安防與環境感測系統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  <a:latin typeface="Microsoft JhengHei"/>
              </a:defRPr>
            </a:pPr>
            <a:r>
              <a:t>基於 Raspberry Pi + ESP32 的人體偵測、即時監控與自動照明控制平台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0" y="3657600"/>
            <a:ext cx="1554480" cy="457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38BDF8"/>
                </a:solidFill>
                <a:latin typeface="Consolas"/>
              </a:rPr>
              <a:t>Raspberry 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0" y="3657600"/>
            <a:ext cx="1554480" cy="457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4ADE80"/>
                </a:solidFill>
                <a:latin typeface="Consolas"/>
              </a:rPr>
              <a:t>ESP32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3657600"/>
            <a:ext cx="1554480" cy="457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A78BFA"/>
                </a:solidFill>
                <a:latin typeface="Consolas"/>
              </a:rPr>
              <a:t>MQTT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Microsoft JhengHei"/>
              </a:defRPr>
            </a:pPr>
            <a:r>
              <a:t>AIoT 期末專題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專題動機與目的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64592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38BDF8"/>
                </a:solidFill>
                <a:latin typeface="Microsoft JhengHei"/>
              </a:rPr>
              <a:t>●  </a:t>
            </a:r>
            <a:r>
              <a:rPr sz="1700">
                <a:solidFill>
                  <a:srgbClr val="FFFFFF"/>
                </a:solidFill>
                <a:latin typeface="Microsoft JhengHei"/>
              </a:rPr>
              <a:t>IoT 技術普及，智慧家庭安防成為重要應用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8BDF8"/>
                </a:solidFill>
                <a:latin typeface="Microsoft JhengHei"/>
              </a:rPr>
              <a:t>●  </a:t>
            </a:r>
            <a:r>
              <a:rPr sz="1700">
                <a:solidFill>
                  <a:srgbClr val="FFFFFF"/>
                </a:solidFill>
                <a:latin typeface="Microsoft JhengHei"/>
              </a:rPr>
              <a:t>結合 AI 影像辨識與 IoT 感測技術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8BDF8"/>
                </a:solidFill>
                <a:latin typeface="Microsoft JhengHei"/>
              </a:rPr>
              <a:t>●  </a:t>
            </a:r>
            <a:r>
              <a:rPr sz="1700">
                <a:solidFill>
                  <a:srgbClr val="FFFFFF"/>
                </a:solidFill>
                <a:latin typeface="Microsoft JhengHei"/>
              </a:rPr>
              <a:t>Raspberry Pi + ESP32 雙裝置分散式架構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8BDF8"/>
                </a:solidFill>
                <a:latin typeface="Microsoft JhengHei"/>
              </a:rPr>
              <a:t>●  </a:t>
            </a:r>
            <a:r>
              <a:rPr sz="1700">
                <a:solidFill>
                  <a:srgbClr val="FFFFFF"/>
                </a:solidFill>
                <a:latin typeface="Microsoft JhengHei"/>
              </a:rPr>
              <a:t>雲端 MQTT Broker 實現跨裝置通訊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645920"/>
            <a:ext cx="5029200" cy="1280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7830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87171"/>
                </a:solidFill>
                <a:latin typeface="Microsoft JhengHei"/>
              </a:defRPr>
            </a:pPr>
            <a:r>
              <a:t>入侵偵測與警報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14884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Microsoft JhengHei"/>
              </a:defRPr>
            </a:pPr>
            <a:r>
              <a:t>PIR → 攝影機 → MobileNet SSD</a:t>
            </a:r>
            <a:br/>
            <a:r>
              <a:t>→ Discord 即時通知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200400"/>
            <a:ext cx="5029200" cy="1280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333756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BBF24"/>
                </a:solidFill>
                <a:latin typeface="Microsoft JhengHei"/>
              </a:defRPr>
            </a:pPr>
            <a:r>
              <a:t>智慧自動照明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370332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Microsoft JhengHei"/>
              </a:defRPr>
            </a:pPr>
            <a:r>
              <a:t>PIR + 光敏電阻聯動判斷</a:t>
            </a:r>
            <a:br/>
            <a:r>
              <a:t>→ 有人且暗時自動開燈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754880"/>
            <a:ext cx="5029200" cy="1280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48920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8BDF8"/>
                </a:solidFill>
                <a:latin typeface="Microsoft JhengHei"/>
              </a:defRPr>
            </a:pPr>
            <a:r>
              <a:t>Web 即時監控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25780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Microsoft JhengHei"/>
              </a:defRPr>
            </a:pPr>
            <a:r>
              <a:t>MQTT.js 直連 Broker</a:t>
            </a:r>
            <a:br/>
            <a:r>
              <a:t>→ 即時數據 + 遠端控制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系統架構總覽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64592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01752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ADE80"/>
                </a:solidFill>
                <a:latin typeface="Microsoft JhengHei"/>
              </a:defRPr>
            </a:pPr>
            <a:r>
              <a:t>ESP32（MicroPython）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JhengHei"/>
              </a:defRPr>
            </a:pPr>
            <a:r>
              <a:t>感測 + 照明控制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>
                <a:solidFill>
                  <a:srgbClr val="4ADE80"/>
                </a:solidFill>
                <a:latin typeface="Microsoft JhengHei"/>
              </a:rPr>
              <a:t>●  </a:t>
            </a:r>
            <a:r>
              <a:rPr sz="1200">
                <a:solidFill>
                  <a:srgbClr val="FFFFFF"/>
                </a:solidFill>
                <a:latin typeface="Microsoft JhengHei"/>
              </a:rPr>
              <a:t>PIR 感測器 (GPIO 27)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4ADE80"/>
                </a:solidFill>
                <a:latin typeface="Microsoft JhengHei"/>
              </a:rPr>
              <a:t>●  </a:t>
            </a:r>
            <a:r>
              <a:rPr sz="1200">
                <a:solidFill>
                  <a:srgbClr val="FFFFFF"/>
                </a:solidFill>
                <a:latin typeface="Microsoft JhengHei"/>
              </a:rPr>
              <a:t>光敏電阻 ADC (GPIO 34)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4ADE80"/>
                </a:solidFill>
                <a:latin typeface="Microsoft JhengHei"/>
              </a:rPr>
              <a:t>●  </a:t>
            </a:r>
            <a:r>
              <a:rPr sz="1200">
                <a:solidFill>
                  <a:srgbClr val="FFFFFF"/>
                </a:solidFill>
                <a:latin typeface="Microsoft JhengHei"/>
              </a:rPr>
              <a:t>LED 自動/手動控制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4ADE80"/>
                </a:solidFill>
                <a:latin typeface="Microsoft JhengHei"/>
              </a:rPr>
              <a:t>●  </a:t>
            </a:r>
            <a:r>
              <a:rPr sz="1200">
                <a:solidFill>
                  <a:srgbClr val="FFFFFF"/>
                </a:solidFill>
                <a:latin typeface="Microsoft JhengHei"/>
              </a:rPr>
              <a:t>MQTT 發布 PIR + 亮度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4ADE80"/>
                </a:solidFill>
                <a:latin typeface="Microsoft JhengHei"/>
              </a:rPr>
              <a:t>●  </a:t>
            </a:r>
            <a:r>
              <a:rPr sz="1200">
                <a:solidFill>
                  <a:srgbClr val="FFFFFF"/>
                </a:solidFill>
                <a:latin typeface="Microsoft JhengHei"/>
              </a:rPr>
              <a:t>MQTT 訂閱控燈指令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206240"/>
            <a:ext cx="3017520" cy="1920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2976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8BDF8"/>
                </a:solidFill>
                <a:latin typeface="Microsoft JhengHei"/>
              </a:defRPr>
            </a:pPr>
            <a:r>
              <a:t>Raspberry Pi（Python）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6177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JhengHei"/>
              </a:defRPr>
            </a:pPr>
            <a:r>
              <a:t>安防偵測線路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89204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38BDF8"/>
                </a:solidFill>
                <a:latin typeface="Microsoft JhengHei"/>
              </a:rPr>
              <a:t>●  </a:t>
            </a:r>
            <a:r>
              <a:rPr sz="1200">
                <a:solidFill>
                  <a:srgbClr val="FFFFFF"/>
                </a:solidFill>
                <a:latin typeface="Microsoft JhengHei"/>
              </a:rPr>
              <a:t>USB Webcam + OpenCV DNN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38BDF8"/>
                </a:solidFill>
                <a:latin typeface="Microsoft JhengHei"/>
              </a:rPr>
              <a:t>●  </a:t>
            </a:r>
            <a:r>
              <a:rPr sz="1200">
                <a:solidFill>
                  <a:srgbClr val="FFFFFF"/>
                </a:solidFill>
                <a:latin typeface="Microsoft JhengHei"/>
              </a:rPr>
              <a:t>MobileNet SSD 人形偵測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38BDF8"/>
                </a:solidFill>
                <a:latin typeface="Microsoft JhengHei"/>
              </a:rPr>
              <a:t>●  </a:t>
            </a:r>
            <a:r>
              <a:rPr sz="1200">
                <a:solidFill>
                  <a:srgbClr val="FFFFFF"/>
                </a:solidFill>
                <a:latin typeface="Microsoft JhengHei"/>
              </a:rPr>
              <a:t>Discord 警報推播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560320"/>
            <a:ext cx="320040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651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A78BFA"/>
                </a:solidFill>
                <a:latin typeface="Microsoft JhengHei"/>
              </a:defRPr>
            </a:pPr>
            <a:r>
              <a:t>HiveMQ Cloud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017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JhengHei"/>
              </a:defRPr>
            </a:pPr>
            <a:r>
              <a:t>MQTT Broker（雲端）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33756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>
                <a:solidFill>
                  <a:srgbClr val="A78BFA"/>
                </a:solidFill>
                <a:latin typeface="Microsoft JhengHei"/>
              </a:rPr>
              <a:t>●  </a:t>
            </a:r>
            <a:r>
              <a:rPr sz="1100">
                <a:solidFill>
                  <a:srgbClr val="FFFFFF"/>
                </a:solidFill>
                <a:latin typeface="Microsoft JhengHei"/>
              </a:rPr>
              <a:t>TLS 加密 (port 8883)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A78BFA"/>
                </a:solidFill>
                <a:latin typeface="Microsoft JhengHei"/>
              </a:rPr>
              <a:t>●  </a:t>
            </a:r>
            <a:r>
              <a:rPr sz="1100">
                <a:solidFill>
                  <a:srgbClr val="FFFFFF"/>
                </a:solidFill>
                <a:latin typeface="Microsoft JhengHei"/>
              </a:rPr>
              <a:t>WSS 連線 (port 8884)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A78BFA"/>
                </a:solidFill>
                <a:latin typeface="Microsoft JhengHei"/>
              </a:rPr>
              <a:t>●  </a:t>
            </a:r>
            <a:r>
              <a:rPr sz="1100">
                <a:solidFill>
                  <a:srgbClr val="FFFFFF"/>
                </a:solidFill>
                <a:latin typeface="Microsoft JhengHei"/>
              </a:rPr>
              <a:t>免費方案，外網可存取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1554480"/>
            <a:ext cx="3200400" cy="228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1645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BBF24"/>
                </a:solidFill>
                <a:latin typeface="Microsoft JhengHei"/>
              </a:defRPr>
            </a:pPr>
            <a:r>
              <a:t>Web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19659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JhengHei"/>
              </a:defRPr>
            </a:pPr>
            <a:r>
              <a:t>即時監控介面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2860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FBBF24"/>
                </a:solidFill>
                <a:latin typeface="Microsoft JhengHei"/>
              </a:rPr>
              <a:t>●  </a:t>
            </a:r>
            <a:r>
              <a:rPr sz="1200">
                <a:solidFill>
                  <a:srgbClr val="FFFFFF"/>
                </a:solidFill>
                <a:latin typeface="Microsoft JhengHei"/>
              </a:rPr>
              <a:t>即時截圖 + PIR 狀態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FBBF24"/>
                </a:solidFill>
                <a:latin typeface="Microsoft JhengHei"/>
              </a:rPr>
              <a:t>●  </a:t>
            </a:r>
            <a:r>
              <a:rPr sz="1200">
                <a:solidFill>
                  <a:srgbClr val="FFFFFF"/>
                </a:solidFill>
                <a:latin typeface="Microsoft JhengHei"/>
              </a:rPr>
              <a:t>亮度數值 + 燈光控制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FBBF24"/>
                </a:solidFill>
                <a:latin typeface="Microsoft JhengHei"/>
              </a:rPr>
              <a:t>●  </a:t>
            </a:r>
            <a:r>
              <a:rPr sz="1200">
                <a:solidFill>
                  <a:srgbClr val="FFFFFF"/>
                </a:solidFill>
                <a:latin typeface="Microsoft JhengHei"/>
              </a:rPr>
              <a:t>警報事件 + 系統狀態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0" y="4114800"/>
            <a:ext cx="320040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0" y="4206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87171"/>
                </a:solidFill>
                <a:latin typeface="Microsoft JhengHei"/>
              </a:defRPr>
            </a:pPr>
            <a:r>
              <a:t>Discord 通知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45720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Webhook 即時推播</a:t>
            </a:r>
            <a:br/>
            <a:r>
              <a:t>入侵警報 + 截圖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292608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Microsoft JhengHei"/>
              </a:defRPr>
            </a:pPr>
            <a:r>
              <a:t>MQTT 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475488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  <a:latin typeface="Microsoft JhengHei"/>
              </a:defRPr>
            </a:pPr>
            <a:r>
              <a:t>MQTT 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2860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BBF24"/>
                </a:solidFill>
                <a:latin typeface="Microsoft JhengHei"/>
              </a:defRPr>
            </a:pPr>
            <a:r>
              <a:t>→ WSS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3891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87171"/>
                </a:solidFill>
                <a:latin typeface="Microsoft JhengHei"/>
              </a:defRPr>
            </a:pPr>
            <a:r>
              <a:t>→ HTTP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線路一：安防偵測流程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Microsoft JhengHei"/>
              </a:defRPr>
            </a:pPr>
            <a:r>
              <a:t>ESP32 PIR → MQTT → RPi Camera → MobileNet SSD → Discord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64592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23747" y="1645920"/>
            <a:ext cx="1600200" cy="1737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18107" y="1755648"/>
            <a:ext cx="411480" cy="411480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F172A"/>
                </a:solidFill>
                <a:latin typeface="Consola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9467" y="224028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ADE80"/>
                </a:solidFill>
                <a:latin typeface="Microsoft JhengHei"/>
              </a:defRPr>
            </a:pPr>
            <a:r>
              <a:t>ESP32 PIR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467" y="256032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BD5E1"/>
                </a:solidFill>
                <a:latin typeface="Microsoft JhengHei"/>
              </a:defRPr>
            </a:pPr>
            <a:r>
              <a:t>紅外線感測器</a:t>
            </a:r>
            <a:br/>
            <a:r>
              <a:t>GPIO 27 偵測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23947" y="22860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Microsoft JhengHe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2547" y="1645920"/>
            <a:ext cx="1600200" cy="1737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46907" y="1755648"/>
            <a:ext cx="411480" cy="41148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F172A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8267" y="224028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A78BFA"/>
                </a:solidFill>
                <a:latin typeface="Microsoft JhengHei"/>
              </a:defRPr>
            </a:pPr>
            <a:r>
              <a:t>MQTT 觸發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8267" y="256032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BD5E1"/>
                </a:solidFill>
                <a:latin typeface="Microsoft JhengHei"/>
              </a:defRPr>
            </a:pPr>
            <a:r>
              <a:t>發布 PIR 訊號</a:t>
            </a:r>
            <a:br/>
            <a:r>
              <a:t>RPi 接收觸發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52747" y="22860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Microsoft JhengHe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1347" y="1645920"/>
            <a:ext cx="1600200" cy="1737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975707" y="1755648"/>
            <a:ext cx="411480" cy="41148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F172A"/>
                </a:solidFill>
                <a:latin typeface="Consola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7067" y="224028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連拍驗證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7067" y="256032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BD5E1"/>
                </a:solidFill>
                <a:latin typeface="Microsoft JhengHei"/>
              </a:defRPr>
            </a:pPr>
            <a:r>
              <a:t>USB Webcam</a:t>
            </a:r>
            <a:br/>
            <a:r>
              <a:t>連拍 3 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1547" y="22860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Microsoft JhengHe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0147" y="1645920"/>
            <a:ext cx="1600200" cy="1737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04507" y="1755648"/>
            <a:ext cx="411480" cy="411480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F172A"/>
                </a:solidFill>
                <a:latin typeface="Consola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5867" y="224028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BBF24"/>
                </a:solidFill>
                <a:latin typeface="Microsoft JhengHei"/>
              </a:defRPr>
            </a:pPr>
            <a:r>
              <a:t>MobileNet SSD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5867" y="256032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BD5E1"/>
                </a:solidFill>
                <a:latin typeface="Microsoft JhengHei"/>
              </a:defRPr>
            </a:pPr>
            <a:r>
              <a:t>深度學習模型</a:t>
            </a:r>
            <a:br/>
            <a:r>
              <a:t>2/3 通過才算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0347" y="22860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Microsoft JhengHei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38947" y="1645920"/>
            <a:ext cx="1600200" cy="1737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33307" y="1755648"/>
            <a:ext cx="411480" cy="41148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F172A"/>
                </a:solidFill>
                <a:latin typeface="Consola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84667" y="224028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MQTT 發布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84667" y="256032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BD5E1"/>
                </a:solidFill>
                <a:latin typeface="Microsoft JhengHei"/>
              </a:defRPr>
            </a:pPr>
            <a:r>
              <a:t>警報事件</a:t>
            </a:r>
            <a:br/>
            <a:r>
              <a:t>+ 截圖影像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39147" y="22860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Microsoft JhengHei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67747" y="1645920"/>
            <a:ext cx="1600200" cy="1737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462107" y="1755648"/>
            <a:ext cx="411480" cy="411480"/>
          </a:xfrm>
          <a:prstGeom prst="round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F172A"/>
                </a:solidFill>
                <a:latin typeface="Consola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13467" y="224028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87171"/>
                </a:solidFill>
                <a:latin typeface="Microsoft JhengHei"/>
              </a:defRPr>
            </a:pPr>
            <a:r>
              <a:t>Discord 通知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13467" y="256032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BD5E1"/>
                </a:solidFill>
                <a:latin typeface="Microsoft JhengHei"/>
              </a:defRPr>
            </a:pPr>
            <a:r>
              <a:t>Webhook 推播</a:t>
            </a:r>
            <a:br/>
            <a:r>
              <a:t>含入侵截圖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840480"/>
            <a:ext cx="10698480" cy="914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3931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BBF24"/>
                </a:solidFill>
                <a:latin typeface="Microsoft JhengHei"/>
              </a:defRPr>
            </a:pPr>
            <a:r>
              <a:t>防抖動機制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251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Microsoft JhengHei"/>
              </a:defRPr>
            </a:pPr>
            <a:r>
              <a:t>多幀驗證：連拍 3 張，至少 2 張偵測到人形才觸發警報。RPi 冷卻 15 秒，ESP32 PIR 冷卻 10 秒。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線路二：智慧照明流程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Microsoft JhengHei"/>
              </a:defRPr>
            </a:pPr>
            <a:r>
              <a:t>ESP32 — PIR + 光敏電阻 → 智慧 LED 控制 → MQTT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64592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23747" y="1645920"/>
            <a:ext cx="1600200" cy="1737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18107" y="1755648"/>
            <a:ext cx="411480" cy="41148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F172A"/>
                </a:solidFill>
                <a:latin typeface="Consola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9467" y="224028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PIR 偵測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467" y="256032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BD5E1"/>
                </a:solidFill>
                <a:latin typeface="Microsoft JhengHei"/>
              </a:defRPr>
            </a:pPr>
            <a:r>
              <a:t>GPIO 27</a:t>
            </a:r>
            <a:br/>
            <a:r>
              <a:t>是否有人在場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23947" y="22860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Microsoft JhengHe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2547" y="1645920"/>
            <a:ext cx="1600200" cy="1737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46907" y="1755648"/>
            <a:ext cx="411480" cy="411480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F172A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8267" y="224028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ADE80"/>
                </a:solidFill>
                <a:latin typeface="Microsoft JhengHei"/>
              </a:defRPr>
            </a:pPr>
            <a:r>
              <a:t>ADC 讀取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8267" y="256032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BD5E1"/>
                </a:solidFill>
                <a:latin typeface="Microsoft JhengHei"/>
              </a:defRPr>
            </a:pPr>
            <a:r>
              <a:t>光敏電阻</a:t>
            </a:r>
            <a:br/>
            <a:r>
              <a:t>亮度 0-4095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52747" y="22860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Microsoft JhengHe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1347" y="1645920"/>
            <a:ext cx="1600200" cy="1737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975707" y="1755648"/>
            <a:ext cx="411480" cy="411480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F172A"/>
                </a:solidFill>
                <a:latin typeface="Consola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7067" y="224028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BBF24"/>
                </a:solidFill>
                <a:latin typeface="Microsoft JhengHei"/>
              </a:defRPr>
            </a:pPr>
            <a:r>
              <a:t>智慧判斷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7067" y="256032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BD5E1"/>
                </a:solidFill>
                <a:latin typeface="Microsoft JhengHei"/>
              </a:defRPr>
            </a:pPr>
            <a:r>
              <a:t>有人+暗→開燈</a:t>
            </a:r>
            <a:br/>
            <a:r>
              <a:t>無人→關燈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1547" y="22860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Microsoft JhengHe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0147" y="1645920"/>
            <a:ext cx="1600200" cy="1737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04507" y="1755648"/>
            <a:ext cx="411480" cy="41148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F172A"/>
                </a:solidFill>
                <a:latin typeface="Consola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5867" y="224028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A78BFA"/>
                </a:solidFill>
                <a:latin typeface="Microsoft JhengHei"/>
              </a:defRPr>
            </a:pPr>
            <a:r>
              <a:t>MQTT 發布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5867" y="256032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BD5E1"/>
                </a:solidFill>
                <a:latin typeface="Microsoft JhengHei"/>
              </a:defRPr>
            </a:pPr>
            <a:r>
              <a:t>亮度 + 燈光</a:t>
            </a:r>
            <a:br/>
            <a:r>
              <a:t>+ PIR 狀態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0347" y="22860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Microsoft JhengHei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38947" y="1645920"/>
            <a:ext cx="1600200" cy="1737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33307" y="1755648"/>
            <a:ext cx="411480" cy="411480"/>
          </a:xfrm>
          <a:prstGeom prst="round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F172A"/>
                </a:solidFill>
                <a:latin typeface="Consola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84667" y="224028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87171"/>
                </a:solidFill>
                <a:latin typeface="Microsoft JhengHei"/>
              </a:defRPr>
            </a:pPr>
            <a:r>
              <a:t>遠端控制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84667" y="256032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BD5E1"/>
                </a:solidFill>
                <a:latin typeface="Microsoft JhengHei"/>
              </a:defRPr>
            </a:pPr>
            <a:r>
              <a:t>Dashboard 手動</a:t>
            </a:r>
            <a:br/>
            <a:r>
              <a:t>開/關燈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39147" y="22860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Microsoft JhengHei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67747" y="1645920"/>
            <a:ext cx="1600200" cy="1737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462107" y="1755648"/>
            <a:ext cx="411480" cy="41148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F172A"/>
                </a:solidFill>
                <a:latin typeface="Consola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13467" y="224028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手動覆蓋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13467" y="256032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BD5E1"/>
                </a:solidFill>
                <a:latin typeface="Microsoft JhengHei"/>
              </a:defRPr>
            </a:pPr>
            <a:r>
              <a:t>手動控制後</a:t>
            </a:r>
            <a:br/>
            <a:r>
              <a:t>暫停自動 60s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840480"/>
            <a:ext cx="10698480" cy="914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3931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ADE80"/>
                </a:solidFill>
                <a:latin typeface="Microsoft JhengHei"/>
              </a:defRPr>
            </a:pPr>
            <a:r>
              <a:t>智慧照明邏輯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251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Microsoft JhengHei"/>
              </a:defRPr>
            </a:pPr>
            <a:r>
              <a:t>有人時依亮度決定是否開燈（供攝影機夜間辨識），無人時自動關燈。Dashboard 手動控燈後暫停自動模式 60 秒。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MQTT 通訊架構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Microsoft JhengHei"/>
              </a:defRPr>
            </a:pPr>
            <a:r>
              <a:t>Topic 設計與訊息格式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64592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Topic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554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發布者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5544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訂閱者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15544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Payload 範例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說明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828800"/>
            <a:ext cx="8869680" cy="12700"/>
          </a:xfrm>
          <a:prstGeom prst="rect">
            <a:avLst/>
          </a:prstGeom>
          <a:solidFill>
            <a:srgbClr val="303B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659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Consolas"/>
              </a:defRPr>
            </a:pPr>
            <a:r>
              <a:t>home/security/pir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6596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ESP32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19659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RPi,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19659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Consolas"/>
              </a:defRPr>
            </a:pPr>
            <a:r>
              <a:t>{"triggered":true}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196596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BDF8"/>
                </a:solidFill>
                <a:latin typeface="Microsoft JhengHei"/>
              </a:defRPr>
            </a:pPr>
            <a:r>
              <a:t>PIR 觸發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606039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Consolas"/>
              </a:defRPr>
            </a:pPr>
            <a:r>
              <a:t>home/security/alert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2606039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RPi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606039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260603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Consolas"/>
              </a:defRPr>
            </a:pPr>
            <a:r>
              <a:t>{"confidence":0.85}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606039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87171"/>
                </a:solidFill>
                <a:latin typeface="Microsoft JhengHei"/>
              </a:defRPr>
            </a:pPr>
            <a:r>
              <a:t>入侵警報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2461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Consolas"/>
              </a:defRPr>
            </a:pPr>
            <a:r>
              <a:t>home/security/snapshot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324612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RPi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324612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246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Consolas"/>
              </a:defRPr>
            </a:pPr>
            <a:r>
              <a:t>{"image":"&lt;Base64&gt;"}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24612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87171"/>
                </a:solidFill>
                <a:latin typeface="Microsoft JhengHei"/>
              </a:defRPr>
            </a:pPr>
            <a:r>
              <a:t>截圖影像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8862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Consolas"/>
              </a:defRPr>
            </a:pPr>
            <a:r>
              <a:t>home/sensor/light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388620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ESP32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240" y="38862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Dashboard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0" y="3886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Consolas"/>
              </a:defRPr>
            </a:pPr>
            <a:r>
              <a:t>{"value":2048}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38862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DE80"/>
                </a:solidFill>
                <a:latin typeface="Microsoft JhengHei"/>
              </a:defRPr>
            </a:pPr>
            <a:r>
              <a:t>亮度數值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526279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Consolas"/>
              </a:defRPr>
            </a:pPr>
            <a:r>
              <a:t>home/light/status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4526279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ESP32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4526279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Dashboard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452627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Consolas"/>
              </a:defRPr>
            </a:pPr>
            <a:r>
              <a:t>{"status":"on"}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4526279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DE80"/>
                </a:solidFill>
                <a:latin typeface="Microsoft JhengHei"/>
              </a:defRPr>
            </a:pPr>
            <a:r>
              <a:t>燈光狀態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1663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Consolas"/>
              </a:defRPr>
            </a:pPr>
            <a:r>
              <a:t>home/light/control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516636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Dashboard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6240" y="51663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ESP32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0" y="51663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Consolas"/>
              </a:defRPr>
            </a:pPr>
            <a:r>
              <a:t>{"action":"on"}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516636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BBF24"/>
                </a:solidFill>
                <a:latin typeface="Microsoft JhengHei"/>
              </a:defRPr>
            </a:pPr>
            <a:r>
              <a:t>遠端控燈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8064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Consolas"/>
              </a:defRPr>
            </a:pPr>
            <a:r>
              <a:t>home/system/status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580644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RPi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58064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Dashboard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0" y="58064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Consolas"/>
              </a:defRPr>
            </a:pPr>
            <a:r>
              <a:t>{"cpu_temp":45}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58064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BDF8"/>
                </a:solidFill>
                <a:latin typeface="Microsoft JhengHei"/>
              </a:defRPr>
            </a:pPr>
            <a:r>
              <a:t>系統狀態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硬體配置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64592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30352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8BDF8"/>
                </a:solidFill>
                <a:latin typeface="Microsoft JhengHei"/>
              </a:defRPr>
            </a:pPr>
            <a:r>
              <a:t>Raspberry Pi 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38BDF8"/>
                </a:solidFill>
                <a:latin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</a:rPr>
              <a:t>Raspberry Pi 4 Model B — 安防主控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38BDF8"/>
                </a:solidFill>
                <a:latin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</a:rPr>
              <a:t>USB Webcam (Logitech C270) — 影像擷取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38BDF8"/>
                </a:solidFill>
                <a:latin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</a:rPr>
              <a:t>OpenCV DNN + MobileNet SSD 人形偵測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38BDF8"/>
                </a:solidFill>
                <a:latin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</a:rPr>
              <a:t>供電：5V USB-C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4754880" cy="1645920"/>
          </a:xfrm>
          <a:prstGeom prst="roundRect">
            <a:avLst/>
          </a:prstGeom>
          <a:solidFill>
            <a:srgbClr val="0D1117"/>
          </a:solidFill>
          <a:ln w="19050">
            <a:solidFill>
              <a:srgbClr val="303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7000" bIns="127000"/>
          <a:lstStyle/>
          <a:p>
            <a:pPr algn="ctr"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# 無需 GPIO 感測器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# PIR 觸發訊號由 ESP32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# 透過 MQTT 遠端傳送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mqtt.subscribe('home/security/pir',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   on_pir_trigger)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554480"/>
            <a:ext cx="530352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ADE80"/>
                </a:solidFill>
                <a:latin typeface="Microsoft JhengHei"/>
              </a:defRPr>
            </a:pPr>
            <a:r>
              <a:t>ESP32 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1945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4ADE80"/>
                </a:solidFill>
                <a:latin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</a:rPr>
              <a:t>ESP32-WROOM-32 — 感測 + 照明主控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4ADE80"/>
                </a:solidFill>
                <a:latin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</a:rPr>
              <a:t>PIR 紅外線感測器 (SR505) — GPIO 27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4ADE80"/>
                </a:solidFill>
                <a:latin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</a:rPr>
              <a:t>光敏電阻 (LDR) — GPIO 34 (ADC)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4ADE80"/>
                </a:solidFill>
                <a:latin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</a:rPr>
              <a:t>LED — GPIO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4114800"/>
            <a:ext cx="4754880" cy="1645920"/>
          </a:xfrm>
          <a:prstGeom prst="roundRect">
            <a:avLst/>
          </a:prstGeom>
          <a:solidFill>
            <a:srgbClr val="0D1117"/>
          </a:solidFill>
          <a:ln w="19050">
            <a:solidFill>
              <a:srgbClr val="303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7000" bIns="127000"/>
          <a:lstStyle/>
          <a:p>
            <a:pPr algn="ctr">
              <a:spcAft>
                <a:spcPts val="200"/>
              </a:spcAft>
            </a:pPr>
            <a:r>
              <a:rPr sz="1000">
                <a:solidFill>
                  <a:srgbClr val="4ADE80"/>
                </a:solidFill>
                <a:latin typeface="Consolas"/>
              </a:rPr>
              <a:t># PIR 接線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4ADE80"/>
                </a:solidFill>
                <a:latin typeface="Consolas"/>
              </a:rPr>
              <a:t>OUT → GPIO 27,  VCC → 5V,  GND → GND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4ADE80"/>
                </a:solidFill>
                <a:latin typeface="Consolas"/>
              </a:rPr>
              <a:t># LDR 接線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4ADE80"/>
                </a:solidFill>
                <a:latin typeface="Consolas"/>
              </a:rPr>
              <a:t>一端 → 3.3V,  另一端 → GPIO 34 + 10K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4ADE80"/>
                </a:solidFill>
                <a:latin typeface="Consolas"/>
              </a:rPr>
              <a:t># LED 接線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4ADE80"/>
                </a:solidFill>
                <a:latin typeface="Consolas"/>
              </a:rPr>
              <a:t>長腳 → GPIO 2（經電阻）,  短腳 → GND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軟體技術棧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64592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4747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8BDF8"/>
                </a:solidFill>
                <a:latin typeface="Microsoft JhengHei"/>
              </a:defRPr>
            </a:pPr>
            <a:r>
              <a:t>Raspberry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Python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JhengHei"/>
              </a:defRPr>
            </a:pPr>
            <a:r>
              <a:t>主程式語言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OpenCV DNN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JhengHei"/>
              </a:defRPr>
            </a:pPr>
            <a:r>
              <a:t>MobileNet SSD 人形偵測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paho-mqtt v2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JhengHei"/>
              </a:defRPr>
            </a:pPr>
            <a:r>
              <a:t>MQTT Client（TLS 加密）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requests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9377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JhengHei"/>
              </a:defRPr>
            </a:pPr>
            <a:r>
              <a:t>Discord Webhook 請求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4864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threading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7607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JhengHei"/>
              </a:defRPr>
            </a:pPr>
            <a:r>
              <a:t>多線程（安防 + 系統狀態）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1554480"/>
            <a:ext cx="34747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16916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ADE80"/>
                </a:solidFill>
                <a:latin typeface="Microsoft JhengHei"/>
              </a:defRPr>
            </a:pPr>
            <a:r>
              <a:t>ESP32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1945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MicroPython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4688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JhengHei"/>
              </a:defRPr>
            </a:pPr>
            <a:r>
              <a:t>統一 Python 生態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0175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umqtt.simple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2918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JhengHei"/>
              </a:defRPr>
            </a:pPr>
            <a:r>
              <a:t>輕量 MQTT Client（SSL）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38404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machine.ADC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1148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JhengHei"/>
              </a:defRPr>
            </a:pPr>
            <a:r>
              <a:t>光敏電阻類比讀取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46634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machine.Pin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9377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JhengHei"/>
              </a:defRPr>
            </a:pPr>
            <a:r>
              <a:t>GPIO 控制（PIR, LED）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80" y="1554480"/>
            <a:ext cx="34747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16916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A78BFA"/>
                </a:solidFill>
                <a:latin typeface="Microsoft JhengHei"/>
              </a:defRPr>
            </a:pPr>
            <a:r>
              <a:t>雲端 / 前端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1945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HiveMQ Cloud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24688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JhengHei"/>
              </a:defRPr>
            </a:pPr>
            <a:r>
              <a:t>MQTT Broker（免費雲端）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30175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MQTT.js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32918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JhengHei"/>
              </a:defRPr>
            </a:pPr>
            <a:r>
              <a:t>前端 WSS 直連 Broker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38404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Tailwind CSS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1148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JhengHei"/>
              </a:defRPr>
            </a:pPr>
            <a:r>
              <a:t>現代深色主題 UI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46634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Discord Webhook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49377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JhengHei"/>
              </a:defRPr>
            </a:pPr>
            <a:r>
              <a:t>入侵警報推播通知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核心程式碼 — RPi 安防主迴圈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Microsoft JhengHei"/>
              </a:defRPr>
            </a:pPr>
            <a:r>
              <a:t>main.py — MQTT 觸發 + 多幀驗證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64592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7132320" cy="4937760"/>
          </a:xfrm>
          <a:prstGeom prst="roundRect">
            <a:avLst/>
          </a:prstGeom>
          <a:solidFill>
            <a:srgbClr val="0D1117"/>
          </a:solidFill>
          <a:ln w="19050">
            <a:solidFill>
              <a:srgbClr val="303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7000" bIns="127000"/>
          <a:lstStyle/>
          <a:p>
            <a:pPr algn="ctr"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pir_triggered = threading.Event()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def on_pir_trigger(topic, payload):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pir_triggered.set()  # ESP32 PIR 觸發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def security_loop():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capture.init()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COOLDOWN = 15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while running: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if pir_triggered.wait(timeout=1):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pir_triggered.clear()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# 多幀驗證：連拍 3 張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detect_count = 0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for attempt in range(3):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    frame = capture.capture_frame()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    detected, boxes, conf = \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        detector.detect_person(frame)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    if detected: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        detect_count += 1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    time.sleep(0.3)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if detect_count &gt;= 2:  # 2/3 通過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    mqtt_client.publish(ALERT, {...})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    discord_bot.send_alert(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        f"偵測到入侵！{conf:.0%}",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        image_base64=img_base64)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time.sleep(COOLDOWN)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554480"/>
            <a:ext cx="365760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16459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Microsoft JhengHei"/>
              </a:defRPr>
            </a:pPr>
            <a:r>
              <a:t>MQTT 觸發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9202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BD5E1"/>
                </a:solidFill>
                <a:latin typeface="Microsoft JhengHei"/>
              </a:defRPr>
            </a:pPr>
            <a:r>
              <a:t>ESP32 PIR 偵測移動</a:t>
            </a:r>
            <a:br/>
            <a:r>
              <a:t>透過 MQTT 遠端觸發 RPi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743200"/>
            <a:ext cx="365760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28346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Microsoft JhengHei"/>
              </a:defRPr>
            </a:pPr>
            <a:r>
              <a:t>多幀驗證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1089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BD5E1"/>
                </a:solidFill>
                <a:latin typeface="Microsoft JhengHei"/>
              </a:defRPr>
            </a:pPr>
            <a:r>
              <a:t>連拍 3 張照片</a:t>
            </a:r>
            <a:br/>
            <a:r>
              <a:t>至少 2/3 通過才觸發警報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931920"/>
            <a:ext cx="365760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40233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78BFA"/>
                </a:solidFill>
                <a:latin typeface="Microsoft JhengHei"/>
              </a:defRPr>
            </a:pPr>
            <a:r>
              <a:t>MobileNet SSD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4297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BD5E1"/>
                </a:solidFill>
                <a:latin typeface="Microsoft JhengHei"/>
              </a:defRPr>
            </a:pPr>
            <a:r>
              <a:t>Caffe 深度學習模型</a:t>
            </a:r>
            <a:br/>
            <a:r>
              <a:t>精準人形偵測 (class 15)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5120640"/>
            <a:ext cx="365760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52120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Microsoft JhengHei"/>
              </a:defRPr>
            </a:pPr>
            <a:r>
              <a:t>多管道通知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5486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BD5E1"/>
                </a:solidFill>
                <a:latin typeface="Microsoft JhengHei"/>
              </a:defRPr>
            </a:pPr>
            <a:r>
              <a:t>MQTT → Dashboard 即時</a:t>
            </a:r>
            <a:br/>
            <a:r>
              <a:t>Webhook → Discord 推播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核心程式碼 — ESP32 PIR + 智慧照明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Microsoft JhengHei"/>
              </a:defRPr>
            </a:pPr>
            <a:r>
              <a:t>esp32/main.py — MicroPython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64592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7132320" cy="4937760"/>
          </a:xfrm>
          <a:prstGeom prst="roundRect">
            <a:avLst/>
          </a:prstGeom>
          <a:solidFill>
            <a:srgbClr val="0D1117"/>
          </a:solidFill>
          <a:ln w="19050">
            <a:solidFill>
              <a:srgbClr val="303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7000" bIns="127000"/>
          <a:lstStyle/>
          <a:p>
            <a:pPr algn="ctr"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# 硬體初始化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pir = Pin(27, Pin.IN, Pin.PULL_DOWN)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ldr = ADC(Pin(34))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ldr.atten(ADC.ATTN_11DB)  # 0-3.3V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led = Pin(2, Pin.OUT)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while True: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ldr_value = ldr.read()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pir_value = pir.value()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now = time.time()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# 手動覆蓋超時 → 恢復自動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if manual_override and \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(now - override_time &gt; 60):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manual_override = False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# 智慧照明（手動模式下跳過）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if not manual_override: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if pir_value == 1: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if ldr_value &lt; THRESHOLD: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    set_led(client, True)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    # 有人+暗 → 開燈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else: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set_led(client, False)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# 沒人 → 關燈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# PIR → MQTT 通知 RPi 拍照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if pir_value == 1 and \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(now - last_pir &gt;= COOLDOWN):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client.publish(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"home/security/pir",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'{"triggered":true}')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554480"/>
            <a:ext cx="365760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16459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Microsoft JhengHei"/>
              </a:defRPr>
            </a:pPr>
            <a:r>
              <a:t>PIR 偵測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9202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BD5E1"/>
                </a:solidFill>
                <a:latin typeface="Microsoft JhengHei"/>
              </a:defRPr>
            </a:pPr>
            <a:r>
              <a:t>GPIO 27 偵測人體移動</a:t>
            </a:r>
            <a:br/>
            <a:r>
              <a:t>觸發 MQTT 通知 RPi 拍照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743200"/>
            <a:ext cx="365760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28346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Microsoft JhengHei"/>
              </a:defRPr>
            </a:pPr>
            <a:r>
              <a:t>智慧照明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1089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BD5E1"/>
                </a:solidFill>
                <a:latin typeface="Microsoft JhengHei"/>
              </a:defRPr>
            </a:pPr>
            <a:r>
              <a:t>有人 + 暗 → 開燈</a:t>
            </a:r>
            <a:br/>
            <a:r>
              <a:t>無人 → 關燈（省電）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931920"/>
            <a:ext cx="365760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40233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78BFA"/>
                </a:solidFill>
                <a:latin typeface="Microsoft JhengHei"/>
              </a:defRPr>
            </a:pPr>
            <a:r>
              <a:t>手動覆蓋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4297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BD5E1"/>
                </a:solidFill>
                <a:latin typeface="Microsoft JhengHei"/>
              </a:defRPr>
            </a:pPr>
            <a:r>
              <a:t>Dashboard 控制後</a:t>
            </a:r>
            <a:br/>
            <a:r>
              <a:t>暫停自動模式 60 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5120640"/>
            <a:ext cx="365760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52120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雙重角色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5486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BD5E1"/>
                </a:solidFill>
                <a:latin typeface="Microsoft JhengHei"/>
              </a:defRPr>
            </a:pPr>
            <a:r>
              <a:t>感測端 + 照明控制</a:t>
            </a:r>
            <a:br/>
            <a:r>
              <a:t>單一 ESP32 完成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Web Dashboard 即時監控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Microsoft JhengHei"/>
              </a:defRPr>
            </a:pPr>
            <a:r>
              <a:t>Tailwind CSS + MQTT.js — 純靜態，無需後端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64592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520440" cy="1737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87171"/>
                </a:solidFill>
                <a:latin typeface="Microsoft JhengHei"/>
              </a:defRPr>
            </a:pPr>
            <a:r>
              <a:t>即時截圖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Microsoft JhengHei"/>
              </a:defRPr>
            </a:pPr>
            <a:r>
              <a:t>subscribe snapshot</a:t>
            </a:r>
            <a:br/>
            <a:r>
              <a:t>Base64 圖片即時渲染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554480"/>
            <a:ext cx="3520440" cy="1737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373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8BDF8"/>
                </a:solidFill>
                <a:latin typeface="Microsoft JhengHei"/>
              </a:defRPr>
            </a:pPr>
            <a:r>
              <a:t>PIR 感測器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14884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Microsoft JhengHei"/>
              </a:defRPr>
            </a:pPr>
            <a:r>
              <a:t>subscribe pir</a:t>
            </a:r>
            <a:br/>
            <a:r>
              <a:t>即時顯示 PIR 狀態 0/1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54480"/>
            <a:ext cx="3520440" cy="1737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7373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87171"/>
                </a:solidFill>
                <a:latin typeface="Microsoft JhengHei"/>
              </a:defRPr>
            </a:pPr>
            <a:r>
              <a:t>警報事件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14884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Microsoft JhengHei"/>
              </a:defRPr>
            </a:pPr>
            <a:r>
              <a:t>subscribe alert</a:t>
            </a:r>
            <a:br/>
            <a:r>
              <a:t>入侵警報列表顯示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657600"/>
            <a:ext cx="3520440" cy="1737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8404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ADE80"/>
                </a:solidFill>
                <a:latin typeface="Microsoft JhengHei"/>
              </a:defRPr>
            </a:pPr>
            <a:r>
              <a:t>環境亮度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5196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Microsoft JhengHei"/>
              </a:defRPr>
            </a:pPr>
            <a:r>
              <a:t>subscribe light</a:t>
            </a:r>
            <a:br/>
            <a:r>
              <a:t>ESP32 ADC 即時數據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3657600"/>
            <a:ext cx="3520440" cy="1737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38404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BBF24"/>
                </a:solidFill>
                <a:latin typeface="Microsoft JhengHei"/>
              </a:defRPr>
            </a:pPr>
            <a:r>
              <a:t>燈光控制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25196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Microsoft JhengHei"/>
              </a:defRPr>
            </a:pPr>
            <a:r>
              <a:t>publish control</a:t>
            </a:r>
            <a:br/>
            <a:r>
              <a:t>手動開/關燈按鈕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657600"/>
            <a:ext cx="3520440" cy="1737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38404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A78BFA"/>
                </a:solidFill>
                <a:latin typeface="Microsoft JhengHei"/>
              </a:defRPr>
            </a:pPr>
            <a:r>
              <a:t>系統狀態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25196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Microsoft JhengHei"/>
              </a:defRPr>
            </a:pPr>
            <a:r>
              <a:t>subscribe status</a:t>
            </a:r>
            <a:br/>
            <a:r>
              <a:t>CPU 溫度、運行時間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47120" cy="731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Microsoft JhengHei"/>
              </a:defRPr>
            </a:pPr>
            <a:r>
              <a:t>MQTT.js 透過 WSS 直連 HiveMQ Cloud，無需後端。純靜態 HTML/JS，可部署於任何 Web Server 或直接本地開啟。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Discord 即時通知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Microsoft JhengHei"/>
              </a:defRPr>
            </a:pPr>
            <a:r>
              <a:t>Webhook — 入侵警報 + 截圖推播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64592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6217920" cy="4114800"/>
          </a:xfrm>
          <a:prstGeom prst="roundRect">
            <a:avLst/>
          </a:prstGeom>
          <a:solidFill>
            <a:srgbClr val="0D1117"/>
          </a:solidFill>
          <a:ln w="19050">
            <a:solidFill>
              <a:srgbClr val="303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7000" bIns="127000"/>
          <a:lstStyle/>
          <a:p>
            <a:pPr algn="ctr"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def send_alert(message, image_base64=None):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embed = 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"title": "入侵警報",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"description": message,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"color": 0xFF0000,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"timestamp": datetime.now().isoformat(),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"image": 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"url": "attachment://snapshot.jpg"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},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}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# multipart/form-data 上傳圖片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image_data = base64.b64decode(image_base64)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files = 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"payload_json": (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None, json.dumps(payload)),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"files[0]": (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        "snapshot.jpg", BytesIO(image_data)),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}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    requests.post(WEBHOOK_URL, files=files)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463040"/>
            <a:ext cx="45720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7171"/>
                </a:solidFill>
                <a:latin typeface="Microsoft JhengHei"/>
              </a:defRPr>
            </a:pPr>
            <a:r>
              <a:t>通知功能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2011680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F87171"/>
                </a:solidFill>
                <a:latin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</a:rPr>
              <a:t>Embed 格式：標題 + 描述 + 時間戳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F87171"/>
                </a:solidFill>
                <a:latin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</a:rPr>
              <a:t>附帶入侵截圖（JPG 圖片）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F87171"/>
                </a:solidFill>
                <a:latin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</a:rPr>
              <a:t>multipart/form-data 上傳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F87171"/>
                </a:solidFill>
                <a:latin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</a:rPr>
              <a:t>系統上線 / 下線通知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F87171"/>
                </a:solidFill>
                <a:latin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</a:rPr>
              <a:t>無需 Bot Token，僅用 Webhook URL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專案目錄結構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64592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6675120" cy="5029200"/>
          </a:xfrm>
          <a:prstGeom prst="roundRect">
            <a:avLst/>
          </a:prstGeom>
          <a:solidFill>
            <a:srgbClr val="0D1117"/>
          </a:solidFill>
          <a:ln w="19050">
            <a:solidFill>
              <a:srgbClr val="303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7000" bIns="127000"/>
          <a:lstStyle/>
          <a:p>
            <a:pPr algn="ctr"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AIOT_final/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├── config.py              # RPi 設定檔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├── main.py                # RPi 主程式入口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├── .env                   # 敏感資訊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├── camera/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   ├── capture.py         # 攝影機擷取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   ├── detector.py        # MobileNet SSD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   └── model/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       ├── deploy.prototxt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       └── mobilenet_ssd.caffemodel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├── mqtt/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   └── client.py          # paho-mqtt v2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├── notify/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   └── discord_bot.py     # Discord Webhook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├── web/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   └── index.html         # Dashboard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├── esp32/                  # MicroPython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   ├── boot.py            # WiFi 連線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   ├── main.py            # PIR+LDR+LED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   ├── config.py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   └── lib/umqtt_simple.py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│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4ADE80"/>
                </a:solidFill>
                <a:latin typeface="Consolas"/>
              </a:rPr>
              <a:t>└── snapshots/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1554480"/>
            <a:ext cx="4114800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1645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Microsoft JhengHei"/>
              </a:defRPr>
            </a:pPr>
            <a:r>
              <a:t>RPi 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9202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安防偵測 + 系統監控</a:t>
            </a:r>
            <a:br/>
            <a:r>
              <a:t>Python 3 + OpenCV DNN</a:t>
            </a:r>
            <a:br/>
            <a:r>
              <a:t>+ paho-mqtt v2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788920"/>
            <a:ext cx="4114800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880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Microsoft JhengHei"/>
              </a:defRPr>
            </a:pPr>
            <a:r>
              <a:t>ESP32 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315468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PIR 感測 + 照明控制</a:t>
            </a:r>
            <a:br/>
            <a:r>
              <a:t>MicroPython + umqtt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4023360"/>
            <a:ext cx="4114800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41148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  <a:latin typeface="Microsoft JhengHei"/>
              </a:defRPr>
            </a:pPr>
            <a:r>
              <a:t>前端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38912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即時監控 Dashboard</a:t>
            </a:r>
            <a:br/>
            <a:r>
              <a:t>Tailwind + MQTT.js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5257800"/>
            <a:ext cx="4114800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0" y="5349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Microsoft JhengHei"/>
              </a:defRPr>
            </a:pPr>
            <a:r>
              <a:t>雲端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56235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Microsoft JhengHei"/>
              </a:defRPr>
            </a:pPr>
            <a:r>
              <a:t>HiveMQ Cloud Broker</a:t>
            </a:r>
            <a:br/>
            <a:r>
              <a:t>+ Discord Webhook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開發過程與問題解決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64592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11247120" cy="822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Microsoft JhengHei"/>
              </a:defRPr>
            </a:pPr>
            <a:r>
              <a:t>PIR 持續誤觸發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6002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JhengHei"/>
              </a:defRPr>
            </a:pPr>
            <a:r>
              <a:t>原因：GPIO 浮接 → 持續高電位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60020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DE80"/>
                </a:solidFill>
                <a:latin typeface="Microsoft JhengHei"/>
              </a:defRPr>
            </a:pPr>
            <a:r>
              <a:t>解法：pull-down 電阻 + 軟體冷卻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68880"/>
            <a:ext cx="11247120" cy="822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Microsoft JhengHei"/>
              </a:defRPr>
            </a:pPr>
            <a:r>
              <a:t>Haar Cascade 誤判衣服為人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56032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JhengHei"/>
              </a:defRPr>
            </a:pPr>
            <a:r>
              <a:t>原因：upperbody 偵測器誤報率高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56032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DE80"/>
                </a:solidFill>
                <a:latin typeface="Microsoft JhengHei"/>
              </a:defRPr>
            </a:pPr>
            <a:r>
              <a:t>解法：改用 MobileNet SSD 深度學習模型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29000"/>
            <a:ext cx="11247120" cy="822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5204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Microsoft JhengHei"/>
              </a:defRPr>
            </a:pPr>
            <a:r>
              <a:t>PIR 與攝影機位置衝突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5204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JhengHei"/>
              </a:defRPr>
            </a:pPr>
            <a:r>
              <a:t>原因：同一位置角度難以兼顧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52044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DE80"/>
                </a:solidFill>
                <a:latin typeface="Microsoft JhengHei"/>
              </a:defRPr>
            </a:pPr>
            <a:r>
              <a:t>解法：PIR 移至 ESP32，MQTT 遠端觸發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389120"/>
            <a:ext cx="11247120" cy="822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4805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手動控燈被自動覆蓋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48056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JhengHei"/>
              </a:defRPr>
            </a:pPr>
            <a:r>
              <a:t>原因：自動模式立即覆蓋手動操作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448056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DE80"/>
                </a:solidFill>
                <a:latin typeface="Microsoft JhengHei"/>
              </a:defRPr>
            </a:pPr>
            <a:r>
              <a:t>解法：manual_override，暫停自動 60 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349240"/>
            <a:ext cx="11247120" cy="822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44068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78BFA"/>
                </a:solidFill>
                <a:latin typeface="Microsoft JhengHei"/>
              </a:defRPr>
            </a:pPr>
            <a:r>
              <a:t>ESP32 ussl 模組更名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44068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icrosoft JhengHei"/>
              </a:defRPr>
            </a:pPr>
            <a:r>
              <a:t>原因：MicroPython v1.25 ussl → ssl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544068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DE80"/>
                </a:solidFill>
                <a:latin typeface="Microsoft JhengHei"/>
              </a:defRPr>
            </a:pPr>
            <a:r>
              <a:t>解法：umqtt_simple 加入 try/except 相容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系統成果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64592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39496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87171"/>
                </a:solidFill>
                <a:latin typeface="Microsoft JhengHei"/>
              </a:defRPr>
            </a:pPr>
            <a:r>
              <a:t>安防偵測完整流程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484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Microsoft JhengHei"/>
              </a:defRPr>
            </a:pPr>
            <a:r>
              <a:t>ESP32 PIR → MQTT → RPi 連拍 3 張</a:t>
            </a:r>
            <a:br/>
            <a:r>
              <a:t>→ MobileNet SSD 多幀驗證（2/3 通過）</a:t>
            </a:r>
            <a:br/>
            <a:r>
              <a:t>→ Discord 推播通知（含截圖）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39496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7373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ADE80"/>
                </a:solidFill>
                <a:latin typeface="Microsoft JhengHei"/>
              </a:defRPr>
            </a:pPr>
            <a:r>
              <a:t>智慧照明控制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148840"/>
            <a:ext cx="484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Microsoft JhengHei"/>
              </a:defRPr>
            </a:pPr>
            <a:r>
              <a:t>PIR 偵測有人 + 光敏判斷環境暗</a:t>
            </a:r>
            <a:br/>
            <a:r>
              <a:t>→ 自動開燈（供攝影機夜間辨識）</a:t>
            </a:r>
            <a:br/>
            <a:r>
              <a:t>→ Dashboard 手動控制（60 秒覆蓋）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931920"/>
            <a:ext cx="539496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BBF24"/>
                </a:solidFill>
                <a:latin typeface="Microsoft JhengHei"/>
              </a:defRPr>
            </a:pPr>
            <a:r>
              <a:t>Web Dashboard 即時監控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26280"/>
            <a:ext cx="484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Microsoft JhengHei"/>
              </a:defRPr>
            </a:pPr>
            <a:r>
              <a:t>MQTT.js 直連雲端 Broker</a:t>
            </a:r>
            <a:br/>
            <a:r>
              <a:t>→ 即時截圖、PIR 狀態、亮度、燈光控制</a:t>
            </a:r>
            <a:br/>
            <a:r>
              <a:t>→ 警報記錄、系統狀態監控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31920"/>
            <a:ext cx="539496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41148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8BDF8"/>
                </a:solidFill>
                <a:latin typeface="Microsoft JhengHei"/>
              </a:defRPr>
            </a:pPr>
            <a:r>
              <a:t>雲端分散式架構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526280"/>
            <a:ext cx="484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Microsoft JhengHei"/>
              </a:defRPr>
            </a:pPr>
            <a:r>
              <a:t>PIR 在 ESP32、攝影機在 RPi</a:t>
            </a:r>
            <a:br/>
            <a:r>
              <a:t>→ MQTT 解耦，支援外網存取</a:t>
            </a:r>
            <a:br/>
            <a:r>
              <a:t>→ systemd 開機自啟動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Microsoft JhengHe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4A3B8"/>
                </a:solidFill>
                <a:latin typeface="Microsoft JhengHei"/>
              </a:defRPr>
            </a:pPr>
            <a:r>
              <a:t>AIoT 智慧安防與環境感測系統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20240" y="4389120"/>
            <a:ext cx="1234440" cy="365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38BDF8"/>
                </a:solidFill>
                <a:latin typeface="Consolas"/>
              </a:rPr>
              <a:t>Raspberry 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4389120"/>
            <a:ext cx="1234440" cy="365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4ADE80"/>
                </a:solidFill>
                <a:latin typeface="Consolas"/>
              </a:rPr>
              <a:t>ESP32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4389120"/>
            <a:ext cx="1234440" cy="365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A78BFA"/>
                </a:solidFill>
                <a:latin typeface="Consolas"/>
              </a:rPr>
              <a:t>OpenCV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4389120"/>
            <a:ext cx="1234440" cy="365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BBF24"/>
                </a:solidFill>
                <a:latin typeface="Consolas"/>
              </a:rPr>
              <a:t>MQTT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4389120"/>
            <a:ext cx="1234440" cy="365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87171"/>
                </a:solidFill>
                <a:latin typeface="Consolas"/>
              </a:rPr>
              <a:t>Discord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6840" y="4389120"/>
            <a:ext cx="1234440" cy="365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38BDF8"/>
                </a:solidFill>
                <a:latin typeface="Consolas"/>
              </a:rPr>
              <a:t>Tailwind CSS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