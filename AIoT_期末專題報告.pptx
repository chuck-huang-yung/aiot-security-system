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JhengHei"/>
              </a:defRPr>
            </a:pPr>
            <a:r>
              <a:t>AIoT 智慧安防與環境感測系統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Microsoft JhengHei"/>
              </a:defRPr>
            </a:pPr>
            <a:r>
              <a:t>基於 Raspberry Pi + ESP32 的人體偵測、即時監控與自動照明控制平台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0" y="3474720"/>
            <a:ext cx="1371600" cy="411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38BDF8"/>
                </a:solidFill>
                <a:latin typeface="Consolas"/>
              </a:rPr>
              <a:t>Raspberry 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3474720"/>
            <a:ext cx="1371600" cy="411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4ADE80"/>
                </a:solidFill>
                <a:latin typeface="Consolas"/>
              </a:rPr>
              <a:t>ESP32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3474720"/>
            <a:ext cx="1371600" cy="411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A78BFA"/>
                </a:solidFill>
                <a:latin typeface="Consolas"/>
              </a:rPr>
              <a:t>MQTT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Microsoft JhengHei"/>
              </a:defRPr>
            </a:pPr>
            <a:r>
              <a:t>AIoT 期末專題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專題動機與目的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38BDF8"/>
                </a:solidFill>
                <a:latin typeface="Microsoft JhengHei"/>
              </a:rPr>
              <a:t>●  </a:t>
            </a:r>
            <a:r>
              <a:rPr sz="1800">
                <a:solidFill>
                  <a:srgbClr val="FFFFFF"/>
                </a:solidFill>
                <a:latin typeface="Microsoft JhengHei"/>
              </a:rPr>
              <a:t>隨著 IoT 技術普及，智慧家庭安防成為重要應用領域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8BDF8"/>
                </a:solidFill>
                <a:latin typeface="Microsoft JhengHei"/>
              </a:rPr>
              <a:t>●  </a:t>
            </a:r>
            <a:r>
              <a:rPr sz="1800">
                <a:solidFill>
                  <a:srgbClr val="FFFFFF"/>
                </a:solidFill>
                <a:latin typeface="Microsoft JhengHei"/>
              </a:rPr>
              <a:t>結合 AI 影像辨識與 IoT 感測，打造智慧化安防系統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8BDF8"/>
                </a:solidFill>
                <a:latin typeface="Microsoft JhengHei"/>
              </a:rPr>
              <a:t>●  </a:t>
            </a:r>
            <a:r>
              <a:rPr sz="1800">
                <a:solidFill>
                  <a:srgbClr val="FFFFFF"/>
                </a:solidFill>
                <a:latin typeface="Microsoft JhengHei"/>
              </a:rPr>
              <a:t>採用 Raspberry Pi + ESP32 雙裝置分散式架構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8BDF8"/>
                </a:solidFill>
                <a:latin typeface="Microsoft JhengHei"/>
              </a:rPr>
              <a:t>●  </a:t>
            </a:r>
            <a:r>
              <a:rPr sz="1800">
                <a:solidFill>
                  <a:srgbClr val="FFFFFF"/>
                </a:solidFill>
                <a:latin typeface="Microsoft JhengHei"/>
              </a:rPr>
              <a:t>透過雲端 MQTT Broker 實現跨裝置、跨網路通訊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645920"/>
            <a:ext cx="484632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783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7171"/>
                </a:solidFill>
                <a:latin typeface="Microsoft JhengHei"/>
              </a:defRPr>
            </a:pPr>
            <a:r>
              <a:t>入侵偵測與警報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1945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Microsoft JhengHei"/>
              </a:defRPr>
            </a:pPr>
            <a:r>
              <a:t>PIR → 攝影機 → OpenCV</a:t>
            </a:r>
            <a:br/>
            <a:r>
              <a:t>→ Discord 即時通知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3200400"/>
            <a:ext cx="484632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Microsoft JhengHei"/>
              </a:defRPr>
            </a:pPr>
            <a:r>
              <a:t>環境自動照明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74904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Microsoft JhengHei"/>
              </a:defRPr>
            </a:pPr>
            <a:r>
              <a:t>光敏電阻 → ADC 判斷</a:t>
            </a:r>
            <a:br/>
            <a:r>
              <a:t>→ LED 自動開關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4754880"/>
            <a:ext cx="484632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4892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Microsoft JhengHei"/>
              </a:defRPr>
            </a:pPr>
            <a:r>
              <a:t>Web 即時監控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530352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Microsoft JhengHei"/>
              </a:defRPr>
            </a:pPr>
            <a:r>
              <a:t>MQTT.js 直連 Broker</a:t>
            </a:r>
            <a:br/>
            <a:r>
              <a:t>→ 即時數據 + 遠端控制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系統架構總覽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20040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Microsoft JhengHei"/>
              </a:defRPr>
            </a:pPr>
            <a:r>
              <a:t>ESP32（MicroPython）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JhengHei"/>
              </a:defRPr>
            </a:pPr>
            <a:r>
              <a:t>照明控制線路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4ADE80"/>
                </a:solidFill>
                <a:latin typeface="Microsoft JhengHei"/>
              </a:rPr>
              <a:t>●  </a:t>
            </a:r>
            <a:r>
              <a:rPr sz="1300">
                <a:solidFill>
                  <a:srgbClr val="FFFFFF"/>
                </a:solidFill>
                <a:latin typeface="Microsoft JhengHei"/>
              </a:rPr>
              <a:t>光敏電阻（ADC 直讀）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4ADE80"/>
                </a:solidFill>
                <a:latin typeface="Microsoft JhengHei"/>
              </a:rPr>
              <a:t>●  </a:t>
            </a:r>
            <a:r>
              <a:rPr sz="1300">
                <a:solidFill>
                  <a:srgbClr val="FFFFFF"/>
                </a:solidFill>
                <a:latin typeface="Microsoft JhengHei"/>
              </a:rPr>
              <a:t>LED 自動/手動控制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4ADE80"/>
                </a:solidFill>
                <a:latin typeface="Microsoft JhengHei"/>
              </a:rPr>
              <a:t>●  </a:t>
            </a:r>
            <a:r>
              <a:rPr sz="1300">
                <a:solidFill>
                  <a:srgbClr val="FFFFFF"/>
                </a:solidFill>
                <a:latin typeface="Microsoft JhengHei"/>
              </a:rPr>
              <a:t>MQTT 發布亮度數據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4ADE80"/>
                </a:solidFill>
                <a:latin typeface="Microsoft JhengHei"/>
              </a:rPr>
              <a:t>●  </a:t>
            </a:r>
            <a:r>
              <a:rPr sz="1300">
                <a:solidFill>
                  <a:srgbClr val="FFFFFF"/>
                </a:solidFill>
                <a:latin typeface="Microsoft JhengHei"/>
              </a:rPr>
              <a:t>MQTT 訂閱控燈指令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754880"/>
            <a:ext cx="320040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Microsoft JhengHei"/>
              </a:defRPr>
            </a:pPr>
            <a:r>
              <a:t>Raspberry Pi（Python）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212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JhengHei"/>
              </a:defRPr>
            </a:pPr>
            <a:r>
              <a:t>安防偵測線路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5778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38BDF8"/>
                </a:solidFill>
                <a:latin typeface="Microsoft JhengHei"/>
              </a:rPr>
              <a:t>●  </a:t>
            </a:r>
            <a:r>
              <a:rPr sz="1300">
                <a:solidFill>
                  <a:srgbClr val="FFFFFF"/>
                </a:solidFill>
                <a:latin typeface="Microsoft JhengHei"/>
              </a:rPr>
              <a:t>PIR 紅外線感測器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38BDF8"/>
                </a:solidFill>
                <a:latin typeface="Microsoft JhengHei"/>
              </a:rPr>
              <a:t>●  </a:t>
            </a:r>
            <a:r>
              <a:rPr sz="1300">
                <a:solidFill>
                  <a:srgbClr val="FFFFFF"/>
                </a:solidFill>
                <a:latin typeface="Microsoft JhengHei"/>
              </a:rPr>
              <a:t>USB Webcam + OpenCV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38BDF8"/>
                </a:solidFill>
                <a:latin typeface="Microsoft JhengHei"/>
              </a:rPr>
              <a:t>●  </a:t>
            </a:r>
            <a:r>
              <a:rPr sz="1300">
                <a:solidFill>
                  <a:srgbClr val="FFFFFF"/>
                </a:solidFill>
                <a:latin typeface="Microsoft JhengHei"/>
              </a:rPr>
              <a:t>Discord 警報推播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560320"/>
            <a:ext cx="301752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2651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Microsoft JhengHei"/>
              </a:defRPr>
            </a:pPr>
            <a:r>
              <a:t>HiveMQ Cloud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0632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JhengHei"/>
              </a:defRPr>
            </a:pPr>
            <a:r>
              <a:t>MQTT Broker（雲端）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47472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>
                <a:solidFill>
                  <a:srgbClr val="A78BFA"/>
                </a:solidFill>
                <a:latin typeface="Microsoft JhengHei"/>
              </a:rPr>
              <a:t>●  </a:t>
            </a:r>
            <a:r>
              <a:rPr sz="1200">
                <a:solidFill>
                  <a:srgbClr val="FFFFFF"/>
                </a:solidFill>
                <a:latin typeface="Microsoft JhengHei"/>
              </a:rPr>
              <a:t>TLS 加密（port 8883）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A78BFA"/>
                </a:solidFill>
                <a:latin typeface="Microsoft JhengHei"/>
              </a:rPr>
              <a:t>●  </a:t>
            </a:r>
            <a:r>
              <a:rPr sz="1200">
                <a:solidFill>
                  <a:srgbClr val="FFFFFF"/>
                </a:solidFill>
                <a:latin typeface="Microsoft JhengHei"/>
              </a:rPr>
              <a:t>WSS 連線（port 8884）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A78BFA"/>
                </a:solidFill>
                <a:latin typeface="Microsoft JhengHei"/>
              </a:rPr>
              <a:t>●  </a:t>
            </a:r>
            <a:r>
              <a:rPr sz="1200">
                <a:solidFill>
                  <a:srgbClr val="FFFFFF"/>
                </a:solidFill>
                <a:latin typeface="Microsoft JhengHei"/>
              </a:rPr>
              <a:t>免費方案，外網可存取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1645920"/>
            <a:ext cx="320040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1737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Microsoft JhengHei"/>
              </a:defRPr>
            </a:pPr>
            <a:r>
              <a:t>Web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JhengHei"/>
              </a:defRPr>
            </a:pPr>
            <a:r>
              <a:t>即時監控介面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46888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FBBF24"/>
                </a:solidFill>
                <a:latin typeface="Microsoft JhengHei"/>
              </a:rPr>
              <a:t>●  </a:t>
            </a:r>
            <a:r>
              <a:rPr sz="1300">
                <a:solidFill>
                  <a:srgbClr val="FFFFFF"/>
                </a:solidFill>
                <a:latin typeface="Microsoft JhengHei"/>
              </a:rPr>
              <a:t>即時截圖顯示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FBBF24"/>
                </a:solidFill>
                <a:latin typeface="Microsoft JhengHei"/>
              </a:rPr>
              <a:t>●  </a:t>
            </a:r>
            <a:r>
              <a:rPr sz="1300">
                <a:solidFill>
                  <a:srgbClr val="FFFFFF"/>
                </a:solidFill>
                <a:latin typeface="Microsoft JhengHei"/>
              </a:rPr>
              <a:t>亮度數值 + 燈光控制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FBBF24"/>
                </a:solidFill>
                <a:latin typeface="Microsoft JhengHei"/>
              </a:rPr>
              <a:t>●  </a:t>
            </a:r>
            <a:r>
              <a:rPr sz="1300">
                <a:solidFill>
                  <a:srgbClr val="FFFFFF"/>
                </a:solidFill>
                <a:latin typeface="Microsoft JhengHei"/>
              </a:rPr>
              <a:t>警報事件列表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FBBF24"/>
                </a:solidFill>
                <a:latin typeface="Microsoft JhengHei"/>
              </a:rPr>
              <a:t>●  </a:t>
            </a:r>
            <a:r>
              <a:rPr sz="1300">
                <a:solidFill>
                  <a:srgbClr val="FFFFFF"/>
                </a:solidFill>
                <a:latin typeface="Microsoft JhengHei"/>
              </a:rPr>
              <a:t>系統狀態監控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3931920"/>
            <a:ext cx="320040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4023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Microsoft JhengHei"/>
              </a:defRPr>
            </a:pPr>
            <a:r>
              <a:t>Discord 通知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Microsoft JhengHei"/>
              </a:defRPr>
            </a:pPr>
            <a:r>
              <a:t>Webhook 即時推播</a:t>
            </a:r>
            <a:br/>
            <a:r>
              <a:t>入侵警報 + 截圖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2743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Microsoft JhengHei"/>
              </a:defRPr>
            </a:pPr>
            <a:r>
              <a:t>MQTT 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5303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Microsoft JhengHei"/>
              </a:defRPr>
            </a:pPr>
            <a:r>
              <a:t>MQTT 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2286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Microsoft JhengHei"/>
              </a:defRPr>
            </a:pPr>
            <a:r>
              <a:t>→ WSS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4206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7171"/>
                </a:solidFill>
                <a:latin typeface="Microsoft JhengHei"/>
              </a:defRPr>
            </a:pPr>
            <a:r>
              <a:t>→ HTTP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線路一：安防偵測流程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JhengHei"/>
              </a:defRPr>
            </a:pPr>
            <a:r>
              <a:t>Raspberry Pi — PIR → Camera → OpenCV → MQTT → Discord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169164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1965960"/>
            <a:ext cx="502920" cy="50292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F172A"/>
                </a:solidFill>
                <a:latin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8BDF8"/>
                </a:solidFill>
                <a:latin typeface="Microsoft JhengHei"/>
              </a:defRPr>
            </a:pPr>
            <a:r>
              <a:t>PIR 偵測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Microsoft JhengHei"/>
              </a:defRPr>
            </a:pPr>
            <a:r>
              <a:t>紅外線感測器</a:t>
            </a:r>
            <a:br/>
            <a:r>
              <a:t>偵測人體移動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25146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1828800"/>
            <a:ext cx="169164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71800" y="1965960"/>
            <a:ext cx="502920" cy="50292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F172A"/>
                </a:solidFill>
                <a:latin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5603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ADE80"/>
                </a:solidFill>
                <a:latin typeface="Microsoft JhengHei"/>
              </a:defRPr>
            </a:pPr>
            <a:r>
              <a:t>攝影機擷取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92608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Microsoft JhengHei"/>
              </a:defRPr>
            </a:pPr>
            <a:r>
              <a:t>USB Webcam</a:t>
            </a:r>
            <a:br/>
            <a:r>
              <a:t>擷取即時畫面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5146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828800"/>
            <a:ext cx="169164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92040" y="1965960"/>
            <a:ext cx="502920" cy="50292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F172A"/>
                </a:solidFill>
                <a:latin typeface="Consola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5603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A78BFA"/>
                </a:solidFill>
                <a:latin typeface="Microsoft JhengHei"/>
              </a:defRPr>
            </a:pPr>
            <a:r>
              <a:t>OpenCV 辨識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92608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Microsoft JhengHei"/>
              </a:defRPr>
            </a:pPr>
            <a:r>
              <a:t>HOG + SVM</a:t>
            </a:r>
            <a:br/>
            <a:r>
              <a:t>人形偵測演算法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25146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828800"/>
            <a:ext cx="169164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12280" y="1965960"/>
            <a:ext cx="502920" cy="50292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F172A"/>
                </a:solidFill>
                <a:latin typeface="Consola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5603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BBF24"/>
                </a:solidFill>
                <a:latin typeface="Microsoft JhengHei"/>
              </a:defRPr>
            </a:pPr>
            <a:r>
              <a:t>截圖儲存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92608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Microsoft JhengHei"/>
              </a:defRPr>
            </a:pPr>
            <a:r>
              <a:t>Base64 編碼</a:t>
            </a:r>
            <a:br/>
            <a:r>
              <a:t>本地備份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25146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1828800"/>
            <a:ext cx="169164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32520" y="1965960"/>
            <a:ext cx="502920" cy="50292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F172A"/>
                </a:solidFill>
                <a:latin typeface="Consola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5603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8BDF8"/>
                </a:solidFill>
                <a:latin typeface="Microsoft JhengHei"/>
              </a:defRPr>
            </a:pPr>
            <a:r>
              <a:t>MQTT 發布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92608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Microsoft JhengHei"/>
              </a:defRPr>
            </a:pPr>
            <a:r>
              <a:t>警報事件</a:t>
            </a:r>
            <a:br/>
            <a:r>
              <a:t>+ 截圖影像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25146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58400" y="1828800"/>
            <a:ext cx="169164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652760" y="1965960"/>
            <a:ext cx="502920" cy="502920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F172A"/>
                </a:solidFill>
                <a:latin typeface="Consola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25603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87171"/>
                </a:solidFill>
                <a:latin typeface="Microsoft JhengHei"/>
              </a:defRPr>
            </a:pPr>
            <a:r>
              <a:t>Discord 通知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292608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Microsoft JhengHei"/>
              </a:defRPr>
            </a:pPr>
            <a:r>
              <a:t>Webhook 推播</a:t>
            </a:r>
            <a:br/>
            <a:r>
              <a:t>含入侵截圖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114800"/>
            <a:ext cx="1124712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206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Microsoft JhengHei"/>
              </a:defRPr>
            </a:pPr>
            <a:r>
              <a:t>防抖動機制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572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Microsoft JhengHei"/>
              </a:defRPr>
            </a:pPr>
            <a:r>
              <a:t>冷卻時間 15 秒：PIR 觸發後 15 秒內不重複處理，避免連續誤觸發導致系統過載。SR505 本身為不可重觸發型，延遲約 8 秒。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線路二：自動照明流程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JhengHei"/>
              </a:defRPr>
            </a:pPr>
            <a:r>
              <a:t>ESP32（MicroPython）— 光敏電阻 → LED 自動控制 → MQTT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169164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1965960"/>
            <a:ext cx="502920" cy="50292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F172A"/>
                </a:solidFill>
                <a:latin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8BDF8"/>
                </a:solidFill>
                <a:latin typeface="Microsoft JhengHei"/>
              </a:defRPr>
            </a:pPr>
            <a:r>
              <a:t>WiFi 連線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Microsoft JhengHei"/>
              </a:defRPr>
            </a:pPr>
            <a:r>
              <a:t>boot.py</a:t>
            </a:r>
            <a:br/>
            <a:r>
              <a:t>自動連線熱點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25146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1828800"/>
            <a:ext cx="169164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71800" y="1965960"/>
            <a:ext cx="502920" cy="50292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F172A"/>
                </a:solidFill>
                <a:latin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5603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A78BFA"/>
                </a:solidFill>
                <a:latin typeface="Microsoft JhengHei"/>
              </a:defRPr>
            </a:pPr>
            <a:r>
              <a:t>MQTT 連線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92608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Microsoft JhengHei"/>
              </a:defRPr>
            </a:pPr>
            <a:r>
              <a:t>HiveMQ Cloud</a:t>
            </a:r>
            <a:br/>
            <a:r>
              <a:t>TLS 加密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5146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828800"/>
            <a:ext cx="169164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92040" y="1965960"/>
            <a:ext cx="502920" cy="50292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F172A"/>
                </a:solidFill>
                <a:latin typeface="Consola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5603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ADE80"/>
                </a:solidFill>
                <a:latin typeface="Microsoft JhengHei"/>
              </a:defRPr>
            </a:pPr>
            <a:r>
              <a:t>ADC 讀取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92608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Microsoft JhengHei"/>
              </a:defRPr>
            </a:pPr>
            <a:r>
              <a:t>光敏電阻</a:t>
            </a:r>
            <a:br/>
            <a:r>
              <a:t>亮度值 0-4095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25146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828800"/>
            <a:ext cx="169164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12280" y="1965960"/>
            <a:ext cx="502920" cy="50292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F172A"/>
                </a:solidFill>
                <a:latin typeface="Consola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5603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BBF24"/>
                </a:solidFill>
                <a:latin typeface="Microsoft JhengHei"/>
              </a:defRPr>
            </a:pPr>
            <a:r>
              <a:t>自動控制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92608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Microsoft JhengHei"/>
              </a:defRPr>
            </a:pPr>
            <a:r>
              <a:t>亮度 &lt; 閾值 → 開燈</a:t>
            </a:r>
            <a:br/>
            <a:r>
              <a:t>亮度 ≥ 閾值 → 關燈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25146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1828800"/>
            <a:ext cx="169164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32520" y="1965960"/>
            <a:ext cx="502920" cy="50292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F172A"/>
                </a:solidFill>
                <a:latin typeface="Consola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5603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8BDF8"/>
                </a:solidFill>
                <a:latin typeface="Microsoft JhengHei"/>
              </a:defRPr>
            </a:pPr>
            <a:r>
              <a:t>MQTT 發布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92608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Microsoft JhengHei"/>
              </a:defRPr>
            </a:pPr>
            <a:r>
              <a:t>亮度數據</a:t>
            </a:r>
            <a:br/>
            <a:r>
              <a:t>+ 燈光狀態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25146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58400" y="1828800"/>
            <a:ext cx="169164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652760" y="1965960"/>
            <a:ext cx="502920" cy="502920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F172A"/>
                </a:solidFill>
                <a:latin typeface="Consola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25603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87171"/>
                </a:solidFill>
                <a:latin typeface="Microsoft JhengHei"/>
              </a:defRPr>
            </a:pPr>
            <a:r>
              <a:t>遠端控制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292608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Microsoft JhengHei"/>
              </a:defRPr>
            </a:pPr>
            <a:r>
              <a:t>Dashboard 手動</a:t>
            </a:r>
            <a:br/>
            <a:r>
              <a:t>開/關燈指令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114800"/>
            <a:ext cx="1124712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206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Microsoft JhengHei"/>
              </a:defRPr>
            </a:pPr>
            <a:r>
              <a:t>手動覆蓋機制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572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Microsoft JhengHei"/>
              </a:defRPr>
            </a:pPr>
            <a:r>
              <a:t>Dashboard 手動控燈後，自動模式暫停 60 秒，避免自動控制立即覆蓋手動操作。超時後自動恢復感測控制。每秒檢查 MQTT 訊息，確保控制指令即時響應。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MQTT 通訊架構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JhengHei"/>
              </a:defRPr>
            </a:pPr>
            <a:r>
              <a:t>Topic 設計與訊息格式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Microsoft JhengHei"/>
              </a:defRPr>
            </a:pPr>
            <a:r>
              <a:t>Topic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6459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Microsoft JhengHei"/>
              </a:defRPr>
            </a:pPr>
            <a:r>
              <a:t>發布者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645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Microsoft JhengHei"/>
              </a:defRPr>
            </a:pPr>
            <a:r>
              <a:t>訂閱者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645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Microsoft JhengHei"/>
              </a:defRPr>
            </a:pPr>
            <a:r>
              <a:t>Payload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645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Microsoft JhengHei"/>
              </a:defRPr>
            </a:pPr>
            <a:r>
              <a:t>說明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965960"/>
            <a:ext cx="9144000" cy="12700"/>
          </a:xfrm>
          <a:prstGeom prst="rect">
            <a:avLst/>
          </a:prstGeom>
          <a:solidFill>
            <a:srgbClr val="30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ADE80"/>
                </a:solidFill>
                <a:latin typeface="Consolas"/>
              </a:defRPr>
            </a:pPr>
            <a:r>
              <a:t>home/security/alert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1031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Microsoft JhengHei"/>
              </a:defRPr>
            </a:pPr>
            <a:r>
              <a:t>RPi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10312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Microsoft JhengHei"/>
              </a:defRPr>
            </a:pPr>
            <a:r>
              <a:t>Dashboard</a:t>
            </a:r>
            <a:br/>
            <a:r>
              <a:t>Discord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1031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BD5E1"/>
                </a:solidFill>
                <a:latin typeface="Consolas"/>
              </a:defRPr>
            </a:pPr>
            <a:r>
              <a:t>{"timestamp":"...",</a:t>
            </a:r>
            <a:br/>
            <a:r>
              <a:t> "confidence":0.85}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1031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7171"/>
                </a:solidFill>
                <a:latin typeface="Microsoft JhengHei"/>
              </a:defRPr>
            </a:pPr>
            <a:r>
              <a:t>入侵警報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7889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ADE80"/>
                </a:solidFill>
                <a:latin typeface="Consolas"/>
              </a:defRPr>
            </a:pPr>
            <a:r>
              <a:t>home/security/snapshot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7889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Microsoft JhengHei"/>
              </a:defRPr>
            </a:pPr>
            <a:r>
              <a:t>RPi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278892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Microsoft JhengHei"/>
              </a:defRPr>
            </a:pPr>
            <a:r>
              <a:t>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7889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BD5E1"/>
                </a:solidFill>
                <a:latin typeface="Consolas"/>
              </a:defRPr>
            </a:pPr>
            <a:r>
              <a:t>{"timestamp":"...",</a:t>
            </a:r>
            <a:br/>
            <a:r>
              <a:t> "image":"&lt;Base64&gt;"}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7889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7171"/>
                </a:solidFill>
                <a:latin typeface="Microsoft JhengHei"/>
              </a:defRPr>
            </a:pPr>
            <a:r>
              <a:t>截圖影像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4747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ADE80"/>
                </a:solidFill>
                <a:latin typeface="Consolas"/>
              </a:defRPr>
            </a:pPr>
            <a:r>
              <a:t>home/sensor/light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4747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Microsoft JhengHei"/>
              </a:defRPr>
            </a:pPr>
            <a:r>
              <a:t>ESP32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347472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Microsoft JhengHei"/>
              </a:defRPr>
            </a:pPr>
            <a:r>
              <a:t>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3474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BD5E1"/>
                </a:solidFill>
                <a:latin typeface="Consolas"/>
              </a:defRPr>
            </a:pPr>
            <a:r>
              <a:t>{"value": 2048}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4747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ADE80"/>
                </a:solidFill>
                <a:latin typeface="Microsoft JhengHei"/>
              </a:defRPr>
            </a:pPr>
            <a:r>
              <a:t>亮度數值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1605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ADE80"/>
                </a:solidFill>
                <a:latin typeface="Consolas"/>
              </a:defRPr>
            </a:pPr>
            <a:r>
              <a:t>home/light/status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41605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Microsoft JhengHei"/>
              </a:defRPr>
            </a:pPr>
            <a:r>
              <a:t>ESP32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416052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Microsoft JhengHei"/>
              </a:defRPr>
            </a:pPr>
            <a:r>
              <a:t>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41605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BD5E1"/>
                </a:solidFill>
                <a:latin typeface="Consolas"/>
              </a:defRPr>
            </a:pPr>
            <a:r>
              <a:t>{"status": "on"}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41605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ADE80"/>
                </a:solidFill>
                <a:latin typeface="Microsoft JhengHei"/>
              </a:defRPr>
            </a:pPr>
            <a:r>
              <a:t>燈光狀態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8463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ADE80"/>
                </a:solidFill>
                <a:latin typeface="Consolas"/>
              </a:defRPr>
            </a:pPr>
            <a:r>
              <a:t>home/light/control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48463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Microsoft JhengHei"/>
              </a:defRPr>
            </a:pPr>
            <a:r>
              <a:t>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484632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Microsoft JhengHei"/>
              </a:defRPr>
            </a:pPr>
            <a:r>
              <a:t>ESP32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0" y="48463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BD5E1"/>
                </a:solidFill>
                <a:latin typeface="Consolas"/>
              </a:defRPr>
            </a:pPr>
            <a:r>
              <a:t>{"action": "on"}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8463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BBF24"/>
                </a:solidFill>
                <a:latin typeface="Microsoft JhengHei"/>
              </a:defRPr>
            </a:pPr>
            <a:r>
              <a:t>遠端控燈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5321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ADE80"/>
                </a:solidFill>
                <a:latin typeface="Consolas"/>
              </a:defRPr>
            </a:pPr>
            <a:r>
              <a:t>home/system/status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55321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Microsoft JhengHei"/>
              </a:defRPr>
            </a:pPr>
            <a:r>
              <a:t>RPi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0" y="553212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Microsoft JhengHei"/>
              </a:defRPr>
            </a:pPr>
            <a:r>
              <a:t>Dashboard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0" y="55321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BD5E1"/>
                </a:solidFill>
                <a:latin typeface="Consolas"/>
              </a:defRPr>
            </a:pPr>
            <a:r>
              <a:t>{"cpu_temp":45,</a:t>
            </a:r>
            <a:br/>
            <a:r>
              <a:t> "uptime":"2h 30m"}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55321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8BDF8"/>
                </a:solidFill>
                <a:latin typeface="Microsoft JhengHei"/>
              </a:defRPr>
            </a:pPr>
            <a:r>
              <a:t>系統狀態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硬體配置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3035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Microsoft JhengHei"/>
              </a:defRPr>
            </a:pPr>
            <a:r>
              <a:t>Raspberry Pi 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38BDF8"/>
                </a:solidFill>
                <a:latin typeface="Microsoft JhengHei"/>
              </a:rPr>
              <a:t>●  </a:t>
            </a:r>
            <a:r>
              <a:rPr sz="1500">
                <a:solidFill>
                  <a:srgbClr val="FFFFFF"/>
                </a:solidFill>
                <a:latin typeface="Microsoft JhengHei"/>
              </a:rPr>
              <a:t>Raspberry Pi 4 Model B — 安防主控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8BDF8"/>
                </a:solidFill>
                <a:latin typeface="Microsoft JhengHei"/>
              </a:rPr>
              <a:t>●  </a:t>
            </a:r>
            <a:r>
              <a:rPr sz="1500">
                <a:solidFill>
                  <a:srgbClr val="FFFFFF"/>
                </a:solidFill>
                <a:latin typeface="Microsoft JhengHei"/>
              </a:rPr>
              <a:t>USB Webcam — 影像擷取（OpenCV）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8BDF8"/>
                </a:solidFill>
                <a:latin typeface="Microsoft JhengHei"/>
              </a:rPr>
              <a:t>●  </a:t>
            </a:r>
            <a:r>
              <a:rPr sz="1500">
                <a:solidFill>
                  <a:srgbClr val="FFFFFF"/>
                </a:solidFill>
                <a:latin typeface="Microsoft JhengHei"/>
              </a:rPr>
              <a:t>PIR 紅外線感測器（HW-456 SR505）— GPIO 17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8BDF8"/>
                </a:solidFill>
                <a:latin typeface="Microsoft JhengHei"/>
              </a:rPr>
              <a:t>●  </a:t>
            </a:r>
            <a:r>
              <a:rPr sz="1500">
                <a:solidFill>
                  <a:srgbClr val="FFFFFF"/>
                </a:solidFill>
                <a:latin typeface="Microsoft JhengHei"/>
              </a:rPr>
              <a:t>供電：5V USB-C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4754880" cy="1097280"/>
          </a:xfrm>
          <a:prstGeom prst="roundRect">
            <a:avLst/>
          </a:prstGeom>
          <a:solidFill>
            <a:srgbClr val="0D1117"/>
          </a:solidFill>
          <a:ln w="19050">
            <a:solidFill>
              <a:srgbClr val="30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</a:pPr>
            <a:r>
              <a:rPr sz="1200">
                <a:solidFill>
                  <a:srgbClr val="4ADE80"/>
                </a:solidFill>
                <a:latin typeface="Consolas"/>
              </a:rPr>
              <a:t>PIR 接線：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4ADE80"/>
                </a:solidFill>
                <a:latin typeface="Consolas"/>
              </a:rPr>
              <a:t>  OUT → GPIO 17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4ADE80"/>
                </a:solidFill>
                <a:latin typeface="Consolas"/>
              </a:rPr>
              <a:t>  GND → GND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4ADE80"/>
                </a:solidFill>
                <a:latin typeface="Consolas"/>
              </a:rPr>
              <a:t>  VCC → 5V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53035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Microsoft JhengHei"/>
              </a:defRPr>
            </a:pPr>
            <a:r>
              <a:t>ESP32 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28600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  <a:latin typeface="Microsoft JhengHei"/>
              </a:rPr>
              <a:t>●  </a:t>
            </a:r>
            <a:r>
              <a:rPr sz="1500">
                <a:solidFill>
                  <a:srgbClr val="FFFFFF"/>
                </a:solidFill>
                <a:latin typeface="Microsoft JhengHei"/>
              </a:rPr>
              <a:t>ESP32-WROOM-32 — 照明主控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  <a:latin typeface="Microsoft JhengHei"/>
              </a:rPr>
              <a:t>●  </a:t>
            </a:r>
            <a:r>
              <a:rPr sz="1500">
                <a:solidFill>
                  <a:srgbClr val="FFFFFF"/>
                </a:solidFill>
                <a:latin typeface="Microsoft JhengHei"/>
              </a:rPr>
              <a:t>光敏電阻（LDR）— GPIO 34（ADC）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  <a:latin typeface="Microsoft JhengHei"/>
              </a:rPr>
              <a:t>●  </a:t>
            </a:r>
            <a:r>
              <a:rPr sz="1500">
                <a:solidFill>
                  <a:srgbClr val="FFFFFF"/>
                </a:solidFill>
                <a:latin typeface="Microsoft JhengHei"/>
              </a:rPr>
              <a:t>LED — GPIO 2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  <a:latin typeface="Microsoft JhengHei"/>
              </a:rPr>
              <a:t>●  </a:t>
            </a:r>
            <a:r>
              <a:rPr sz="1500">
                <a:solidFill>
                  <a:srgbClr val="FFFFFF"/>
                </a:solidFill>
                <a:latin typeface="Microsoft JhengHei"/>
              </a:rPr>
              <a:t>供電：USB（獨立運作）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4114800"/>
            <a:ext cx="4754880" cy="1371600"/>
          </a:xfrm>
          <a:prstGeom prst="roundRect">
            <a:avLst/>
          </a:prstGeom>
          <a:solidFill>
            <a:srgbClr val="0D1117"/>
          </a:solidFill>
          <a:ln w="19050">
            <a:solidFill>
              <a:srgbClr val="30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</a:pPr>
            <a:r>
              <a:rPr sz="1200">
                <a:solidFill>
                  <a:srgbClr val="4ADE80"/>
                </a:solidFill>
                <a:latin typeface="Consolas"/>
              </a:rPr>
              <a:t>LDR 接線：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4ADE80"/>
                </a:solidFill>
                <a:latin typeface="Consolas"/>
              </a:rPr>
              <a:t>  一端 → 3.3V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4ADE80"/>
                </a:solidFill>
                <a:latin typeface="Consolas"/>
              </a:rPr>
              <a:t>  另一端 → GPIO 34 + 10K 下拉電阻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4ADE80"/>
                </a:solidFill>
                <a:latin typeface="Consolas"/>
              </a:rPr>
              <a:t>LED 接線：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4ADE80"/>
                </a:solidFill>
                <a:latin typeface="Consolas"/>
              </a:rPr>
              <a:t>  長腳 → GPIO 2（經電阻）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4ADE80"/>
                </a:solidFill>
                <a:latin typeface="Consolas"/>
              </a:rPr>
              <a:t>  短腳 → GND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軟體技術棧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4747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Microsoft JhengHei"/>
              </a:defRPr>
            </a:pPr>
            <a:r>
              <a:t>Raspberry 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Python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JhengHei"/>
              </a:defRPr>
            </a:pPr>
            <a:r>
              <a:t>主程式語言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OpenCV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375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JhengHei"/>
              </a:defRPr>
            </a:pPr>
            <a:r>
              <a:t>HOG+SVM 人形偵測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paho-mqtt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JhengHei"/>
              </a:defRPr>
            </a:pPr>
            <a:r>
              <a:t>MQTT Client（TLS）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617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RPi.GPIO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92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JhengHei"/>
              </a:defRPr>
            </a:pPr>
            <a:r>
              <a:t>GPIO 控制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94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requests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669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JhengHei"/>
              </a:defRPr>
            </a:pPr>
            <a:r>
              <a:t>Discord Webhook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645920"/>
            <a:ext cx="34747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  <a:latin typeface="Microsoft JhengHei"/>
              </a:defRPr>
            </a:pPr>
            <a:r>
              <a:t>ESP32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286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MicroPython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5603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JhengHei"/>
              </a:defRPr>
            </a:pPr>
            <a:r>
              <a:t>統一 Python 生態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063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umqtt.simple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3375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JhengHei"/>
              </a:defRPr>
            </a:pPr>
            <a:r>
              <a:t>輕量 MQTT Client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8404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machine.ADC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114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JhengHei"/>
              </a:defRPr>
            </a:pPr>
            <a:r>
              <a:t>類比訊號讀取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617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machine.Pin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892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JhengHei"/>
              </a:defRPr>
            </a:pPr>
            <a:r>
              <a:t>GPIO 控制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1645920"/>
            <a:ext cx="34747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Microsoft JhengHei"/>
              </a:defRPr>
            </a:pPr>
            <a:r>
              <a:t>雲端 / 前端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286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HiveMQ Cloud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5603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JhengHei"/>
              </a:defRPr>
            </a:pPr>
            <a:r>
              <a:t>MQTT Broker（免費）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063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MQTT.js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3375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JhengHei"/>
              </a:defRPr>
            </a:pPr>
            <a:r>
              <a:t>前端 MQTT 直連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8404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Tailwind CSS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114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JhengHei"/>
              </a:defRPr>
            </a:pPr>
            <a:r>
              <a:t>現代深色主題 UI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617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Discord Webhook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892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JhengHei"/>
              </a:defRPr>
            </a:pPr>
            <a:r>
              <a:t>警報推播通知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核心程式碼 — RPi 安防主迴圈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JhengHei"/>
              </a:defRPr>
            </a:pPr>
            <a:r>
              <a:t>main.py → security_loop()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6858000" cy="5029200"/>
          </a:xfrm>
          <a:prstGeom prst="roundRect">
            <a:avLst/>
          </a:prstGeom>
          <a:solidFill>
            <a:srgbClr val="0D1117"/>
          </a:solidFill>
          <a:ln w="19050">
            <a:solidFill>
              <a:srgbClr val="30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def security_loop():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pir.setup()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capture.init()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last_trigger_time = 0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COOLDOWN = 15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while running: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    if pir.detect():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        now = time.time()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        if now - last_trigger_time &lt; COOLDOWN: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            time.sleep(1)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            continue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        last_trigger_time = now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        frame = capture.capture_frame()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        detected, boxes, confidence = detector.detect_person(frame)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        if detected: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            frame = detector.draw_boxes(frame, boxes)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            img_base64 = capture.capture_to_base64(frame)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            capture.save_snapshot(frame)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            mqtt_client.publish("home/security/alert",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                "timestamp": timestamp,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                "confidence": round(confidence, 2),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            })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            discord_bot.send_alert(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                f"偵測到入侵！信心值: {confidence:.0%}",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                image_base64=img_base64,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            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645920"/>
            <a:ext cx="393192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7373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Microsoft JhengHei"/>
              </a:defRPr>
            </a:pPr>
            <a:r>
              <a:t>PIR 觸發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0574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Microsoft JhengHei"/>
              </a:defRPr>
            </a:pPr>
            <a:r>
              <a:t>GPIO 17 偵測到高電位</a:t>
            </a:r>
            <a:br/>
            <a:r>
              <a:t>表示有人體移動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834640"/>
            <a:ext cx="393192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29260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Microsoft JhengHei"/>
              </a:defRPr>
            </a:pPr>
            <a:r>
              <a:t>冷卻機制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2461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Microsoft JhengHei"/>
              </a:defRPr>
            </a:pPr>
            <a:r>
              <a:t>15 秒內不重複觸發</a:t>
            </a:r>
            <a:br/>
            <a:r>
              <a:t>防止連續誤報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4023360"/>
            <a:ext cx="393192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41148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Microsoft JhengHei"/>
              </a:defRPr>
            </a:pPr>
            <a:r>
              <a:t>OpenCV 辨識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44348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Microsoft JhengHei"/>
              </a:defRPr>
            </a:pPr>
            <a:r>
              <a:t>HOG + SVM 演算法</a:t>
            </a:r>
            <a:br/>
            <a:r>
              <a:t>判斷是否為人形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5212080"/>
            <a:ext cx="393192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53035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Microsoft JhengHei"/>
              </a:defRPr>
            </a:pPr>
            <a:r>
              <a:t>多管道通知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56235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Microsoft JhengHei"/>
              </a:defRPr>
            </a:pPr>
            <a:r>
              <a:t>MQTT → Dashboard</a:t>
            </a:r>
            <a:br/>
            <a:r>
              <a:t>Webhook → Discord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核心程式碼 — ESP32 照明控制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JhengHei"/>
              </a:defRPr>
            </a:pPr>
            <a:r>
              <a:t>esp32/main.py — MicroPython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6858000" cy="5029200"/>
          </a:xfrm>
          <a:prstGeom prst="roundRect">
            <a:avLst/>
          </a:prstGeom>
          <a:solidFill>
            <a:srgbClr val="0D1117"/>
          </a:solidFill>
          <a:ln w="19050">
            <a:solidFill>
              <a:srgbClr val="30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# 硬體初始化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ldr = ADC(Pin(34))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ldr.atten(ADC.ATTN_11DB)  # 0-3.3V, ADC 0-4095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led = Pin(2, Pin.OUT)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# 主迴圈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while True: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ldr_value = ldr.read()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# 手動覆蓋超時，恢復自動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if manual_override and \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   (time.time() - manual_override_time &gt; 60):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    manual_override = False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# 自動控制（手動模式下跳過）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if not manual_override: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    if ldr_value &lt; LIGHT_THRESHOLD: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        led.value(1)   # 開燈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        led_status = "on"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    else: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        led.value(0)   # 關燈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        led_status = "off"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# 發布亮度數據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client.publish("home/sensor/light",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               json.dumps({"value": ldr_value}))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# 每秒檢查 MQTT（控燈指令）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for _ in range(PUBLISH_INTERVAL):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    client.check_msg()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    time.sleep(1)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645920"/>
            <a:ext cx="393192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7373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Microsoft JhengHei"/>
              </a:defRPr>
            </a:pPr>
            <a:r>
              <a:t>ADC 讀取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0574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Microsoft JhengHei"/>
              </a:defRPr>
            </a:pPr>
            <a:r>
              <a:t>ESP32 內建 12-bit ADC</a:t>
            </a:r>
            <a:br/>
            <a:r>
              <a:t>直讀光敏電阻 0-4095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834640"/>
            <a:ext cx="393192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29260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Microsoft JhengHei"/>
              </a:defRPr>
            </a:pPr>
            <a:r>
              <a:t>自動控制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2461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Microsoft JhengHei"/>
              </a:defRPr>
            </a:pPr>
            <a:r>
              <a:t>亮度低於閾值自動開燈</a:t>
            </a:r>
            <a:br/>
            <a:r>
              <a:t>高於閾值自動關燈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4023360"/>
            <a:ext cx="393192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41148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Microsoft JhengHei"/>
              </a:defRPr>
            </a:pPr>
            <a:r>
              <a:t>手動覆蓋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44348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Microsoft JhengHei"/>
              </a:defRPr>
            </a:pPr>
            <a:r>
              <a:t>Dashboard 控制後</a:t>
            </a:r>
            <a:br/>
            <a:r>
              <a:t>暫停自動 60 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5212080"/>
            <a:ext cx="393192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53035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Microsoft JhengHei"/>
              </a:defRPr>
            </a:pPr>
            <a:r>
              <a:t>即時響應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56235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Microsoft JhengHei"/>
              </a:defRPr>
            </a:pPr>
            <a:r>
              <a:t>每秒檢查 MQTT 訊息</a:t>
            </a:r>
            <a:br/>
            <a:r>
              <a:t>確保控燈指令即時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Web Dashboard 即時監控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JhengHei"/>
              </a:defRPr>
            </a:pPr>
            <a:r>
              <a:t>Tailwind CSS + MQTT.js — 純靜態，無需後端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347472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7171"/>
                </a:solidFill>
                <a:latin typeface="Microsoft JhengHei"/>
              </a:defRPr>
            </a:pPr>
            <a:r>
              <a:t>即時截圖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Microsoft JhengHei"/>
              </a:defRPr>
            </a:pPr>
            <a:r>
              <a:t>subscribe home/security/snapshot</a:t>
            </a:r>
            <a:br/>
            <a:r>
              <a:t>Base64 圖片即時渲染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347472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7171"/>
                </a:solidFill>
                <a:latin typeface="Microsoft JhengHei"/>
              </a:defRPr>
            </a:pPr>
            <a:r>
              <a:t>警報事件列表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86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Microsoft JhengHei"/>
              </a:defRPr>
            </a:pPr>
            <a:r>
              <a:t>subscribe home/security/alert</a:t>
            </a:r>
            <a:br/>
            <a:r>
              <a:t>入侵警報即時顯示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45920"/>
            <a:ext cx="347472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  <a:latin typeface="Microsoft JhengHei"/>
              </a:defRPr>
            </a:pPr>
            <a:r>
              <a:t>環境亮度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286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Microsoft JhengHei"/>
              </a:defRPr>
            </a:pPr>
            <a:r>
              <a:t>subscribe home/sensor/light</a:t>
            </a:r>
            <a:br/>
            <a:r>
              <a:t>ESP32 ADC 即時數據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31920"/>
            <a:ext cx="347472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Microsoft JhengHei"/>
              </a:defRPr>
            </a:pPr>
            <a:r>
              <a:t>燈光控制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72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Microsoft JhengHei"/>
              </a:defRPr>
            </a:pPr>
            <a:r>
              <a:t>publish home/light/control</a:t>
            </a:r>
            <a:br/>
            <a:r>
              <a:t>手動開關燈按鈕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931920"/>
            <a:ext cx="347472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Microsoft JhengHei"/>
              </a:defRPr>
            </a:pPr>
            <a:r>
              <a:t>系統狀態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572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Microsoft JhengHei"/>
              </a:defRPr>
            </a:pPr>
            <a:r>
              <a:t>subscribe home/system/status</a:t>
            </a:r>
            <a:br/>
            <a:r>
              <a:t>CPU 溫度、運行時間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931920"/>
            <a:ext cx="347472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Microsoft JhengHei"/>
              </a:defRPr>
            </a:pPr>
            <a:r>
              <a:t>連線設定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572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Microsoft JhengHei"/>
              </a:defRPr>
            </a:pPr>
            <a:r>
              <a:t>MQTT Broker 設定</a:t>
            </a:r>
            <a:br/>
            <a:r>
              <a:t>localStorage 儲存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669280"/>
            <a:ext cx="11247120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7607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Microsoft JhengHei"/>
              </a:defRPr>
            </a:pPr>
            <a:r>
              <a:t>技術亮點：MQTT.js 透過 WebSocket Secure（WSS）直連 HiveMQ Cloud，無需後端伺服器。前端純靜態 HTML/JS，可部署於任何 Web Server 或直接本地開啟。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Discord 即時通知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JhengHei"/>
              </a:defRPr>
            </a:pPr>
            <a:r>
              <a:t>Webhook — 入侵警報 + 截圖推播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943600" cy="3840480"/>
          </a:xfrm>
          <a:prstGeom prst="roundRect">
            <a:avLst/>
          </a:prstGeom>
          <a:solidFill>
            <a:srgbClr val="0D1117"/>
          </a:solidFill>
          <a:ln w="19050">
            <a:solidFill>
              <a:srgbClr val="30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def send_alert(message, image_base64=None):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embed =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    "title": "入侵警報",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    "description": message,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    "color": 0xFF0000,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    "timestamp": datetime.now().isoformat(),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    "image": {"url": "attachment://snapshot.jpg"},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}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# 圖片用 multipart/form-data 上傳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image_data = base64.b64decode(image_base64)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files =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    "payload_json": (None, json.dumps(payload)),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    "files[0]": ("snapshot.jpg", BytesIO(image_data)),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}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    requests.post(DISCORD_WEBHOOK_URL, files=files)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554480"/>
            <a:ext cx="484632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6459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7171"/>
                </a:solidFill>
                <a:latin typeface="Microsoft JhengHei"/>
              </a:defRPr>
            </a:pPr>
            <a:r>
              <a:t>通知功能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2194560"/>
            <a:ext cx="4297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F87171"/>
                </a:solidFill>
                <a:latin typeface="Microsoft JhengHei"/>
              </a:rPr>
              <a:t>●  </a:t>
            </a:r>
            <a:r>
              <a:rPr sz="1400">
                <a:solidFill>
                  <a:srgbClr val="FFFFFF"/>
                </a:solidFill>
                <a:latin typeface="Microsoft JhengHei"/>
              </a:rPr>
              <a:t>Embed 格式：標題 + 描述 + 時間戳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87171"/>
                </a:solidFill>
                <a:latin typeface="Microsoft JhengHei"/>
              </a:rPr>
              <a:t>●  </a:t>
            </a:r>
            <a:r>
              <a:rPr sz="1400">
                <a:solidFill>
                  <a:srgbClr val="FFFFFF"/>
                </a:solidFill>
                <a:latin typeface="Microsoft JhengHei"/>
              </a:rPr>
              <a:t>附帶入侵截圖（JPG 圖片）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87171"/>
                </a:solidFill>
                <a:latin typeface="Microsoft JhengHei"/>
              </a:rPr>
              <a:t>●  </a:t>
            </a:r>
            <a:r>
              <a:rPr sz="1400">
                <a:solidFill>
                  <a:srgbClr val="FFFFFF"/>
                </a:solidFill>
                <a:latin typeface="Microsoft JhengHei"/>
              </a:rPr>
              <a:t>multipart/form-data 上傳圖片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87171"/>
                </a:solidFill>
                <a:latin typeface="Microsoft JhengHei"/>
              </a:rPr>
              <a:t>●  </a:t>
            </a:r>
            <a:r>
              <a:rPr sz="1400">
                <a:solidFill>
                  <a:srgbClr val="FFFFFF"/>
                </a:solidFill>
                <a:latin typeface="Microsoft JhengHei"/>
              </a:rPr>
              <a:t>系統上線 / 下線通知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87171"/>
                </a:solidFill>
                <a:latin typeface="Microsoft JhengHei"/>
              </a:rPr>
              <a:t>●  </a:t>
            </a:r>
            <a:r>
              <a:rPr sz="1400">
                <a:solidFill>
                  <a:srgbClr val="FFFFFF"/>
                </a:solidFill>
                <a:latin typeface="Microsoft JhengHei"/>
              </a:rPr>
              <a:t>無需 Bot Token，使用 Webhook URL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專案目錄結構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6400800" cy="5029200"/>
          </a:xfrm>
          <a:prstGeom prst="roundRect">
            <a:avLst/>
          </a:prstGeom>
          <a:solidFill>
            <a:srgbClr val="0D1117"/>
          </a:solidFill>
          <a:ln w="19050">
            <a:solidFill>
              <a:srgbClr val="30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AIOT_final/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├── config.py                  # RPi 設定檔（MQTT、GPIO、Discord）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├── main.py                    # RPi 主程式入口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├── .env                       # 敏感資訊（MQTT 密碼、Webhook URL）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│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├── sensors/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│   └── pir.py                 # PIR 紅外線感測器模組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│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├── camera/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│   ├── capture.py             # 攝影機擷取（OpenCV）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│   └── detector.py            # HOG+SVM 人形偵測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│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├── mqtt/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│   └── client.py              # MQTT 連線封裝（paho-mqtt）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│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├── notify/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│   └── discord_bot.py         # Discord Webhook 通知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│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├── web/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│   └── index.html             # Dashboard（Tailwind + MQTT.js）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│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├── esp32/                     # ESP32 MicroPython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│   ├── boot.py                # WiFi 自動連線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│   ├── main.py                # 光敏+LED+MQTT 主程式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│   ├── config.py              # ESP32 設定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│   └── lib/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│       └── umqtt_simple.py    # MQTT 函式庫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│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4ADE80"/>
                </a:solidFill>
                <a:latin typeface="Consolas"/>
              </a:rPr>
              <a:t>└── snapshots/                 # 截圖儲存目錄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645920"/>
            <a:ext cx="438912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0" y="17373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Microsoft JhengHei"/>
              </a:defRPr>
            </a:pPr>
            <a:r>
              <a:t>RPi 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205740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Microsoft JhengHei"/>
              </a:defRPr>
            </a:pPr>
            <a:r>
              <a:t>安防偵測 + 系統監控</a:t>
            </a:r>
            <a:br/>
            <a:r>
              <a:t>Python 3 + OpenCV + paho-mqtt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834640"/>
            <a:ext cx="438912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29260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DE80"/>
                </a:solidFill>
                <a:latin typeface="Microsoft JhengHei"/>
              </a:defRPr>
            </a:pPr>
            <a:r>
              <a:t>ESP32 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324612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Microsoft JhengHei"/>
              </a:defRPr>
            </a:pPr>
            <a:r>
              <a:t>照明控制</a:t>
            </a:r>
            <a:br/>
            <a:r>
              <a:t>MicroPython + umqtt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4023360"/>
            <a:ext cx="438912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41148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BF24"/>
                </a:solidFill>
                <a:latin typeface="Microsoft JhengHei"/>
              </a:defRPr>
            </a:pPr>
            <a:r>
              <a:t>前端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443484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Microsoft JhengHei"/>
              </a:defRPr>
            </a:pPr>
            <a:r>
              <a:t>即時監控 Dashboard</a:t>
            </a:r>
            <a:br/>
            <a:r>
              <a:t>HTML/JS + Tailwind + MQTT.js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5212080"/>
            <a:ext cx="438912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53035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Microsoft JhengHei"/>
              </a:defRPr>
            </a:pPr>
            <a:r>
              <a:t>雲端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562356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Microsoft JhengHei"/>
              </a:defRPr>
            </a:pPr>
            <a:r>
              <a:t>HiveMQ Cloud Broker</a:t>
            </a:r>
            <a:br/>
            <a:r>
              <a:t>+ Discord Webhook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開發過程與問題解決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1124712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Microsoft JhengHei"/>
              </a:defRPr>
            </a:pPr>
            <a:r>
              <a:t>PIR 持續誤觸發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60020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JhengHei"/>
              </a:defRPr>
            </a:pPr>
            <a:r>
              <a:t>原因：GPIO 浮接導致持續高電位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600200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Microsoft JhengHei"/>
              </a:defRPr>
            </a:pPr>
            <a:r>
              <a:t>解法：加入 pull-down 電阻 + 軟體冷卻機制（15 秒）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60320"/>
            <a:ext cx="1124712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Microsoft JhengHei"/>
              </a:defRPr>
            </a:pPr>
            <a:r>
              <a:t>picamera2 與 USB Webcam 衝突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60604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JhengHei"/>
              </a:defRPr>
            </a:pPr>
            <a:r>
              <a:t>原因：picamera2 嘗試用 libcamera 開啟 USB Webcam 導致凍結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606040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Microsoft JhengHei"/>
              </a:defRPr>
            </a:pPr>
            <a:r>
              <a:t>解法：硬編碼使用 OpenCV VideoCapture，跳過 picamera2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566160"/>
            <a:ext cx="1124712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6118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Microsoft JhengHei"/>
              </a:defRPr>
            </a:pPr>
            <a:r>
              <a:t>ESP32 ussl 模組更名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61188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JhengHei"/>
              </a:defRPr>
            </a:pPr>
            <a:r>
              <a:t>原因：MicroPython v1.25 將 ussl 更名為 ssl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611880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Microsoft JhengHei"/>
              </a:defRPr>
            </a:pPr>
            <a:r>
              <a:t>解法：umqtt_simple.py 加入 try/except 相容處理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572000"/>
            <a:ext cx="1124712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617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Microsoft JhengHei"/>
              </a:defRPr>
            </a:pPr>
            <a:r>
              <a:t>手動控燈被自動覆蓋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61772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JhengHei"/>
              </a:defRPr>
            </a:pPr>
            <a:r>
              <a:t>原因：手動開燈後，下一個 loop 自動模式立即關燈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4617720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Microsoft JhengHei"/>
              </a:defRPr>
            </a:pPr>
            <a:r>
              <a:t>解法：加入 manual_override 機制，手動控制後暫停自動 60 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577840"/>
            <a:ext cx="1124712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6235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Microsoft JhengHei"/>
              </a:defRPr>
            </a:pPr>
            <a:r>
              <a:t>WiFi WPA3 不相容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562356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JhengHei"/>
              </a:defRPr>
            </a:pPr>
            <a:r>
              <a:t>原因：RPi 無法連線 WPA3 手機熱點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5623560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Microsoft JhengHei"/>
              </a:defRPr>
            </a:pPr>
            <a:r>
              <a:t>解法：手機端改用 WPA2 安全性設定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系統成果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48640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7171"/>
                </a:solidFill>
                <a:latin typeface="Microsoft JhengHei"/>
              </a:defRPr>
            </a:pPr>
            <a:r>
              <a:t>安防偵測完整流程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Microsoft JhengHei"/>
              </a:defRPr>
            </a:pPr>
            <a:r>
              <a:t>PIR 偵測人體 → 攝影機截圖 → OpenCV 人形辨識</a:t>
            </a:r>
            <a:br/>
            <a:r>
              <a:t>→ MQTT 發布警報 → Discord 推播通知（含截圖）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48640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  <a:latin typeface="Microsoft JhengHei"/>
              </a:defRPr>
            </a:pPr>
            <a:r>
              <a:t>自動照明控制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2860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Microsoft JhengHei"/>
              </a:defRPr>
            </a:pPr>
            <a:r>
              <a:t>光敏電阻即時偵測環境亮度 → 自動開/關 LED</a:t>
            </a:r>
            <a:br/>
            <a:r>
              <a:t>→ MQTT 發布狀態 → Dashboard 即時顯示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548640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Microsoft JhengHei"/>
              </a:defRPr>
            </a:pPr>
            <a:r>
              <a:t>Web Dashboard 即時監控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Microsoft JhengHei"/>
              </a:defRPr>
            </a:pPr>
            <a:r>
              <a:t>MQTT.js 直連雲端 Broker → 即時截圖、亮度數據</a:t>
            </a:r>
            <a:br/>
            <a:r>
              <a:t>燈光手動控制、系統狀態監控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931920"/>
            <a:ext cx="548640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1148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Microsoft JhengHei"/>
              </a:defRPr>
            </a:pPr>
            <a:r>
              <a:t>雲端通訊架構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5720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Microsoft JhengHei"/>
              </a:defRPr>
            </a:pPr>
            <a:r>
              <a:t>RPi + ESP32 雙裝置透過 HiveMQ Cloud 協同運作</a:t>
            </a:r>
            <a:br/>
            <a:r>
              <a:t>支援外網存取，手機可即時收到警報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Microsoft JhengHe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Microsoft JhengHei"/>
              </a:defRPr>
            </a:pPr>
            <a:r>
              <a:t>AIoT 智慧安防與環境感測系統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03120" y="4114800"/>
            <a:ext cx="118872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38BDF8"/>
                </a:solidFill>
                <a:latin typeface="Consolas"/>
              </a:rPr>
              <a:t>Raspberry 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4114800"/>
            <a:ext cx="118872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ADE80"/>
                </a:solidFill>
                <a:latin typeface="Consolas"/>
              </a:rPr>
              <a:t>ESP32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4114800"/>
            <a:ext cx="118872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78BFA"/>
                </a:solidFill>
                <a:latin typeface="Consolas"/>
              </a:rPr>
              <a:t>OpenCV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114800"/>
            <a:ext cx="118872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BBF24"/>
                </a:solidFill>
                <a:latin typeface="Consolas"/>
              </a:rPr>
              <a:t>MQTT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4114800"/>
            <a:ext cx="118872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87171"/>
                </a:solidFill>
                <a:latin typeface="Consolas"/>
              </a:rPr>
              <a:t>Discord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4114800"/>
            <a:ext cx="118872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38BDF8"/>
                </a:solidFill>
                <a:latin typeface="Consolas"/>
              </a:rPr>
              <a:t>Tailwind CSS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