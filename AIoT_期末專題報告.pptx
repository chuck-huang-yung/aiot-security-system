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AIoT 智慧安防與環境感測系統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基於 Raspberry Pi + ESP32 的人體偵測、即時監控與自動照明控制平台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474720"/>
            <a:ext cx="1371600" cy="411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38BDF8"/>
                </a:solidFill>
                <a:latin typeface="Consolas"/>
              </a:rPr>
              <a:t>Raspberry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3474720"/>
            <a:ext cx="1371600" cy="411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4ADE80"/>
                </a:solidFill>
                <a:latin typeface="Consolas"/>
              </a:rPr>
              <a:t>ESP32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3474720"/>
            <a:ext cx="1371600" cy="411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A78BFA"/>
                </a:solidFill>
                <a:latin typeface="Consolas"/>
              </a:rPr>
              <a:t>MQTT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Microsoft JhengHei"/>
              </a:defRPr>
            </a:pPr>
            <a:r>
              <a:t>AIoT 期末專題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專題動機與目的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800">
                <a:solidFill>
                  <a:srgbClr val="FFFFFF"/>
                </a:solidFill>
                <a:latin typeface="Microsoft JhengHei"/>
              </a:rPr>
              <a:t>隨著 IoT 技術普及，智慧家庭安防成為重要應用領域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800">
                <a:solidFill>
                  <a:srgbClr val="FFFFFF"/>
                </a:solidFill>
                <a:latin typeface="Microsoft JhengHei"/>
              </a:rPr>
              <a:t>結合 AI 影像辨識與 IoT 感測，打造智慧化安防系統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800">
                <a:solidFill>
                  <a:srgbClr val="FFFFFF"/>
                </a:solidFill>
                <a:latin typeface="Microsoft JhengHei"/>
              </a:rPr>
              <a:t>採用 Raspberry Pi + ESP32 雙裝置分散式架構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800">
                <a:solidFill>
                  <a:srgbClr val="FFFFFF"/>
                </a:solidFill>
                <a:latin typeface="Microsoft JhengHei"/>
              </a:rPr>
              <a:t>透過雲端 MQTT Broker 實現跨裝置、跨網路通訊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645920"/>
            <a:ext cx="484632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783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icrosoft JhengHei"/>
              </a:defRPr>
            </a:pPr>
            <a:r>
              <a:t>入侵偵測與警報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PIR → 攝影機 → OpenCV</a:t>
            </a:r>
            <a:br/>
            <a:r>
              <a:t>→ Discord 即時通知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3200400"/>
            <a:ext cx="484632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3337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Microsoft JhengHei"/>
              </a:defRPr>
            </a:pPr>
            <a:r>
              <a:t>環境自動照明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74904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光敏電阻 → ADC 判斷</a:t>
            </a:r>
            <a:br/>
            <a:r>
              <a:t>→ LED 自動開關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4754880"/>
            <a:ext cx="484632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Microsoft JhengHei"/>
              </a:defRPr>
            </a:pPr>
            <a:r>
              <a:t>Web 即時監控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30352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MQTT.js 直連 Broker</a:t>
            </a:r>
            <a:br/>
            <a:r>
              <a:t>→ 即時數據 + 遠端控制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系統架構總覽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20040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Microsoft JhengHei"/>
              </a:defRPr>
            </a:pPr>
            <a:r>
              <a:t>ESP32（MicroPython）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JhengHei"/>
              </a:defRPr>
            </a:pPr>
            <a:r>
              <a:t>照明控制線路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PIR 紅外線感測器（GPIO 27）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光敏電阻（ADC 直讀）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LED 自動/手動控制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MQTT 發布 PIR + 亮度數據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MQTT 訂閱控燈指令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754880"/>
            <a:ext cx="320040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icrosoft JhengHei"/>
              </a:defRPr>
            </a:pPr>
            <a:r>
              <a:t>Raspberry Pi（Python）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JhengHei"/>
              </a:defRPr>
            </a:pPr>
            <a:r>
              <a:t>安防偵測線路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USB Webcam + OpenCV DNN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MobileNet SSD 人形偵測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MQTT 接收 PIR 觸發訊號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Discord 警報推播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30175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6517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Microsoft JhengHei"/>
              </a:defRPr>
            </a:pPr>
            <a:r>
              <a:t>HiveMQ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632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JhengHei"/>
              </a:defRPr>
            </a:pPr>
            <a:r>
              <a:t>MQTT Broker（雲端）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47472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A78BFA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TLS 加密（port 8883）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A78BFA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WSS 連線（port 8884）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A78BFA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免費方案，外網可存取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45920"/>
            <a:ext cx="32004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Microsoft JhengHei"/>
              </a:defRPr>
            </a:pPr>
            <a:r>
              <a:t>Web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JhengHei"/>
              </a:defRPr>
            </a:pPr>
            <a:r>
              <a:t>即時監控介面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4688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即時截圖顯示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亮度數值 + 燈光控制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警報事件列表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Jheng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JhengHei"/>
              </a:rPr>
              <a:t>系統狀態監控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931920"/>
            <a:ext cx="320040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0" y="4023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87171"/>
                </a:solidFill>
                <a:latin typeface="Microsoft JhengHei"/>
              </a:defRPr>
            </a:pPr>
            <a:r>
              <a:t>Discord 通知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389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Webhook 即時推播</a:t>
            </a:r>
            <a:br/>
            <a:r>
              <a:t>入侵警報 + 截圖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icrosoft JhengHei"/>
              </a:defRPr>
            </a:pPr>
            <a:r>
              <a:t>MQTT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icrosoft JhengHei"/>
              </a:defRPr>
            </a:pPr>
            <a:r>
              <a:t>MQTT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Microsoft JhengHei"/>
              </a:defRPr>
            </a:pPr>
            <a:r>
              <a:t>→ WSS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206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Microsoft JhengHei"/>
              </a:defRPr>
            </a:pPr>
            <a:r>
              <a:t>→ HTTP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線路一：安防偵測流程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Microsoft JhengHei"/>
              </a:defRPr>
            </a:pPr>
            <a:r>
              <a:t>ESP32 PIR → MQTT → RPi Camera → MobileNet SSD → Discord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65960"/>
            <a:ext cx="502920" cy="50292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ADE80"/>
                </a:solidFill>
                <a:latin typeface="Microsoft JhengHei"/>
              </a:defRPr>
            </a:pPr>
            <a:r>
              <a:t>ESP32 PIR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紅外線感測器</a:t>
            </a:r>
            <a:br/>
            <a:r>
              <a:t>GPIO 27 偵測移動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71800" y="1965960"/>
            <a:ext cx="502920" cy="50292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Microsoft JhengHei"/>
              </a:defRPr>
            </a:pPr>
            <a:r>
              <a:t>MQTT 觸發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發布 PIR 訊號</a:t>
            </a:r>
            <a:br/>
            <a:r>
              <a:t>RPi 接收觸發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92040" y="1965960"/>
            <a:ext cx="502920" cy="50292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Microsoft JhengHei"/>
              </a:defRPr>
            </a:pPr>
            <a:r>
              <a:t>連拍驗證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USB Webcam</a:t>
            </a:r>
            <a:br/>
            <a:r>
              <a:t>連拍 3 張照片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12280" y="1965960"/>
            <a:ext cx="502920" cy="50292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BBF24"/>
                </a:solidFill>
                <a:latin typeface="Microsoft JhengHei"/>
              </a:defRPr>
            </a:pPr>
            <a:r>
              <a:t>MobileNet SSD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深度學習模型</a:t>
            </a:r>
            <a:br/>
            <a:r>
              <a:t>2/3 幀通過才算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1965960"/>
            <a:ext cx="502920" cy="50292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Microsoft JhengHei"/>
              </a:defRPr>
            </a:pPr>
            <a:r>
              <a:t>MQTT 發布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警報事件</a:t>
            </a:r>
            <a:br/>
            <a:r>
              <a:t>+ 截圖影像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52760" y="1965960"/>
            <a:ext cx="502920" cy="50292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7171"/>
                </a:solidFill>
                <a:latin typeface="Microsoft JhengHei"/>
              </a:defRPr>
            </a:pPr>
            <a:r>
              <a:t>Discord 通知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Webhook 推播</a:t>
            </a:r>
            <a:br/>
            <a:r>
              <a:t>含入侵截圖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114800"/>
            <a:ext cx="1124712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Microsoft JhengHei"/>
              </a:defRPr>
            </a:pPr>
            <a:r>
              <a:t>防抖動機制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多幀驗證：連拍 3 張，至少 2 張偵測到人形才觸發警報。冷卻時間 15 秒，避免連續誤觸發。ESP32 PIR 額外設定 10 秒冷卻。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線路二：智慧照明流程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Microsoft JhengHei"/>
              </a:defRPr>
            </a:pPr>
            <a:r>
              <a:t>ESP32（MicroPython）— PIR + 光敏電阻 → 智慧 LED 控制 → MQTT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65960"/>
            <a:ext cx="502920" cy="50292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Microsoft JhengHei"/>
              </a:defRPr>
            </a:pPr>
            <a:r>
              <a:t>PIR 偵測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GPIO 27 偵測</a:t>
            </a:r>
            <a:br/>
            <a:r>
              <a:t>是否有人在場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71800" y="1965960"/>
            <a:ext cx="502920" cy="50292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ADE80"/>
                </a:solidFill>
                <a:latin typeface="Microsoft JhengHei"/>
              </a:defRPr>
            </a:pPr>
            <a:r>
              <a:t>ADC 讀取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光敏電阻</a:t>
            </a:r>
            <a:br/>
            <a:r>
              <a:t>亮度值 0-4095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92040" y="1965960"/>
            <a:ext cx="502920" cy="50292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BBF24"/>
                </a:solidFill>
                <a:latin typeface="Microsoft JhengHei"/>
              </a:defRPr>
            </a:pPr>
            <a:r>
              <a:t>智慧判斷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有人 + 暗 → 開燈</a:t>
            </a:r>
            <a:br/>
            <a:r>
              <a:t>無人 → 關燈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12280" y="1965960"/>
            <a:ext cx="502920" cy="50292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Microsoft JhengHei"/>
              </a:defRPr>
            </a:pPr>
            <a:r>
              <a:t>MQTT 發布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亮度數據</a:t>
            </a:r>
            <a:br/>
            <a:r>
              <a:t>+ 燈光 + PIR 狀態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1965960"/>
            <a:ext cx="502920" cy="50292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7171"/>
                </a:solidFill>
                <a:latin typeface="Microsoft JhengHei"/>
              </a:defRPr>
            </a:pPr>
            <a:r>
              <a:t>遠端控制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Dashboard 手動</a:t>
            </a:r>
            <a:br/>
            <a:r>
              <a:t>開/關燈指令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0" y="1828800"/>
            <a:ext cx="169164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52760" y="1965960"/>
            <a:ext cx="502920" cy="50292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onsola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25603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Microsoft JhengHei"/>
              </a:defRPr>
            </a:pPr>
            <a:r>
              <a:t>手動覆蓋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2926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手動控制後</a:t>
            </a:r>
            <a:br/>
            <a:r>
              <a:t>暫停自動 60 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114800"/>
            <a:ext cx="1124712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Microsoft JhengHei"/>
              </a:defRPr>
            </a:pPr>
            <a:r>
              <a:t>手動覆蓋機制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智慧照明：有人時依亮度決定是否開燈（供攝影機夜間辨識），無人時自動關燈。Dashboard 手動控燈後暫停自動 60 秒。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MQTT 通訊架構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Microsoft JhengHei"/>
              </a:defRPr>
            </a:pPr>
            <a:r>
              <a:t>Topic 設計與訊息格式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Topic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6459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發布者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45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訂閱者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645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45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9144000" cy="12700"/>
          </a:xfrm>
          <a:prstGeom prst="rect">
            <a:avLst/>
          </a:prstGeom>
          <a:solidFill>
            <a:srgbClr val="303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DE80"/>
                </a:solidFill>
                <a:latin typeface="Consolas"/>
              </a:defRPr>
            </a:pPr>
            <a:r>
              <a:t>home/security/pir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1031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1031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RPi</a:t>
            </a:r>
            <a:br/>
            <a: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Consolas"/>
              </a:defRPr>
            </a:pPr>
            <a:r>
              <a:t>{"triggered":true,</a:t>
            </a:r>
            <a:br/>
            <a:r>
              <a:t> "timestamp":12345}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1031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8BDF8"/>
                </a:solidFill>
                <a:latin typeface="Microsoft JhengHei"/>
              </a:defRPr>
            </a:pPr>
            <a:r>
              <a:t>PIR 觸發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97479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DE80"/>
                </a:solidFill>
                <a:latin typeface="Consolas"/>
              </a:defRPr>
            </a:pPr>
            <a:r>
              <a:t>home/security/alert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697479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RPi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697479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697479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Consolas"/>
              </a:defRPr>
            </a:pPr>
            <a:r>
              <a:t>{"timestamp":"...",</a:t>
            </a:r>
            <a:br/>
            <a:r>
              <a:t> "confidence":0.85}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697479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7171"/>
                </a:solidFill>
                <a:latin typeface="Microsoft JhengHei"/>
              </a:defRPr>
            </a:pPr>
            <a:r>
              <a:t>入侵警報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91839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DE80"/>
                </a:solidFill>
                <a:latin typeface="Consolas"/>
              </a:defRPr>
            </a:pPr>
            <a:r>
              <a:t>home/security/snapshot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291839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RPi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291839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291839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Consolas"/>
              </a:defRPr>
            </a:pPr>
            <a:r>
              <a:t>{"timestamp":"...",</a:t>
            </a:r>
            <a:br/>
            <a:r>
              <a:t> "image":"&lt;Base64&gt;"}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291839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7171"/>
                </a:solidFill>
                <a:latin typeface="Microsoft JhengHei"/>
              </a:defRPr>
            </a:pPr>
            <a:r>
              <a:t>截圖影像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862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DE80"/>
                </a:solidFill>
                <a:latin typeface="Consolas"/>
              </a:defRPr>
            </a:pPr>
            <a:r>
              <a:t>home/sensor/light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886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38862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3886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Consolas"/>
              </a:defRPr>
            </a:pPr>
            <a:r>
              <a:t>{"value": 2048}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8862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ADE80"/>
                </a:solidFill>
                <a:latin typeface="Microsoft JhengHei"/>
              </a:defRPr>
            </a:pPr>
            <a:r>
              <a:t>亮度數值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4805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DE80"/>
                </a:solidFill>
                <a:latin typeface="Consolas"/>
              </a:defRPr>
            </a:pPr>
            <a:r>
              <a:t>home/light/status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48056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4480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Consolas"/>
              </a:defRPr>
            </a:pPr>
            <a:r>
              <a:t>{"status": "on"}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4805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ADE80"/>
                </a:solidFill>
                <a:latin typeface="Microsoft JhengHei"/>
              </a:defRPr>
            </a:pPr>
            <a:r>
              <a:t>燈光狀態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749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DE80"/>
                </a:solidFill>
                <a:latin typeface="Consolas"/>
              </a:defRPr>
            </a:pPr>
            <a:r>
              <a:t>home/light/control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50749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50749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50749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Consolas"/>
              </a:defRPr>
            </a:pPr>
            <a:r>
              <a:t>{"action": "on"}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50749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BBF24"/>
                </a:solidFill>
                <a:latin typeface="Microsoft JhengHei"/>
              </a:defRPr>
            </a:pPr>
            <a:r>
              <a:t>遠端控燈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669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DE80"/>
                </a:solidFill>
                <a:latin typeface="Consolas"/>
              </a:defRPr>
            </a:pPr>
            <a:r>
              <a:t>home/system/status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6692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RPi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66928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03520" y="56692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Consolas"/>
              </a:defRPr>
            </a:pPr>
            <a:r>
              <a:t>{"cpu_temp":45,</a:t>
            </a:r>
            <a:br/>
            <a:r>
              <a:t> "uptime":"2h 30m"}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566928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8BDF8"/>
                </a:solidFill>
                <a:latin typeface="Microsoft JhengHei"/>
              </a:defRPr>
            </a:pPr>
            <a:r>
              <a:t>系統狀態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硬體配置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Microsoft JhengHei"/>
              </a:defRPr>
            </a:pPr>
            <a:r>
              <a:t>Raspberry Pi 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500">
                <a:solidFill>
                  <a:srgbClr val="FFFFFF"/>
                </a:solidFill>
                <a:latin typeface="Microsoft JhengHei"/>
              </a:rPr>
              <a:t>Raspberry Pi 4 Model B — 安防主控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500">
                <a:solidFill>
                  <a:srgbClr val="FFFFFF"/>
                </a:solidFill>
                <a:latin typeface="Microsoft JhengHei"/>
              </a:rPr>
              <a:t>USB Webcam (Logitech C270) — 影像擷取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500">
                <a:solidFill>
                  <a:srgbClr val="FFFFFF"/>
                </a:solidFill>
                <a:latin typeface="Microsoft JhengHei"/>
              </a:rPr>
              <a:t>OpenCV DNN + MobileNet SSD 人形偵測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500">
                <a:solidFill>
                  <a:srgbClr val="FFFFFF"/>
                </a:solidFill>
                <a:latin typeface="Microsoft JhengHei"/>
              </a:rPr>
              <a:t>供電：5V USB-C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4754880" cy="109728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4ADE80"/>
                </a:solidFill>
                <a:latin typeface="Consolas"/>
              </a:rPr>
              <a:t>無需 GPIO 感測器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4ADE80"/>
                </a:solidFill>
                <a:latin typeface="Consolas"/>
              </a:rPr>
              <a:t>PIR 觸發訊號由 ESP32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4ADE80"/>
                </a:solidFill>
                <a:latin typeface="Consolas"/>
              </a:rPr>
              <a:t>透過 MQTT 遠端傳送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Microsoft JhengHei"/>
              </a:defRPr>
            </a:pPr>
            <a:r>
              <a:t>ESP32 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8600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500">
                <a:solidFill>
                  <a:srgbClr val="FFFFFF"/>
                </a:solidFill>
                <a:latin typeface="Microsoft JhengHei"/>
              </a:rPr>
              <a:t>ESP32-WROOM-32 — 感測 + 照明主控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500">
                <a:solidFill>
                  <a:srgbClr val="FFFFFF"/>
                </a:solidFill>
                <a:latin typeface="Microsoft JhengHei"/>
              </a:rPr>
              <a:t>PIR 紅外線感測器 (SR505) — GPIO 27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500">
                <a:solidFill>
                  <a:srgbClr val="FFFFFF"/>
                </a:solidFill>
                <a:latin typeface="Microsoft JhengHei"/>
              </a:rPr>
              <a:t>光敏電阻（LDR）— GPIO 34（ADC）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500">
                <a:solidFill>
                  <a:srgbClr val="FFFFFF"/>
                </a:solidFill>
                <a:latin typeface="Microsoft JhengHei"/>
              </a:rPr>
              <a:t>LED — GPIO 2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500">
                <a:solidFill>
                  <a:srgbClr val="FFFFFF"/>
                </a:solidFill>
                <a:latin typeface="Microsoft JhengHei"/>
              </a:rPr>
              <a:t>供電：USB（獨立運作）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389120"/>
            <a:ext cx="4754880" cy="137160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PIR：OUT→GPIO 27, VCC→5V, GND→GND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LDR：一端→3.3V, 另一端→GPIO 34+10K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LED：長腳→GPIO 2（經電阻）, 短腳→GND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軟體技術棧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4747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Microsoft JhengHei"/>
              </a:defRPr>
            </a:pPr>
            <a:r>
              <a:t>Raspberry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Python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主程式語言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OpenCV DNN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37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MobileNet SSD 人形偵測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paho-mqtt 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MQTT Client（TLS）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requests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92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Discord 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threading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669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多線程安防 + 狀態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645920"/>
            <a:ext cx="34747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MicroPython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統一 Python 生態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umqtt.simple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37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輕量 MQTT 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840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machine.ADC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類比訊號讀取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617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machine.Pin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892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GPIO 控制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1645920"/>
            <a:ext cx="34747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Microsoft JhengHei"/>
              </a:defRPr>
            </a:pPr>
            <a:r>
              <a:t>雲端 / 前端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HiveMQ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MQTT Broker（免費）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MQTT.js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337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前端 MQTT 直連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840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Tailwind CSS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現代深色主題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617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Discord Webhook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892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警報推播通知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核心程式碼 — RPi 安防主迴圈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Microsoft JhengHei"/>
              </a:defRPr>
            </a:pPr>
            <a:r>
              <a:t>main.py → security_loop()（MQTT 觸發）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6858000" cy="502920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pir_triggered = threading.Event()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def on_pir_trigger(topic, payload):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pir_triggered.set()  # ESP32 PIR 觸發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def security_loop():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capture.init()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COOLDOWN = 15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while running: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if pir_triggered.wait(timeout=1):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pir_triggered.clear()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# 多幀驗證：連拍 3 張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detect_count = 0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for attempt in range(3):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frame = capture.capture_frame()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detected, boxes, conf = \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    detector.detect_person(frame)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if detected: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    detect_count += 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time.sleep(0.3)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if detect_count &gt;= 2:  # 2/3 通過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mqtt_client.publish(TOPIC_ALERT, {...})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discord_bot.send_alert(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    f"偵測到入侵！信心值: {conf:.0%}",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    image_base64=img_base64)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time.sleep(COOLDOWN)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645920"/>
            <a:ext cx="39319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7373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Microsoft JhengHei"/>
              </a:defRPr>
            </a:pPr>
            <a:r>
              <a:t>MQTT 觸發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574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ESP32 PIR 偵測移動</a:t>
            </a:r>
            <a:br/>
            <a:r>
              <a:t>透過 MQTT 遠端觸發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834640"/>
            <a:ext cx="39319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926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Microsoft JhengHei"/>
              </a:defRPr>
            </a:pPr>
            <a:r>
              <a:t>多幀驗證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2461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連拍 3 張照片</a:t>
            </a:r>
            <a:br/>
            <a:r>
              <a:t>至少 2/3 通過才警報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023360"/>
            <a:ext cx="39319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41148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Microsoft JhengHei"/>
              </a:defRPr>
            </a:pPr>
            <a:r>
              <a:t>MobileNet SSD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4348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深度學習模型</a:t>
            </a:r>
            <a:br/>
            <a:r>
              <a:t>精準人形偵測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5212080"/>
            <a:ext cx="39319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53035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Microsoft JhengHei"/>
              </a:defRPr>
            </a:pPr>
            <a:r>
              <a:t>多管道通知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5623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MQTT → Dashboard</a:t>
            </a:r>
            <a:br/>
            <a:r>
              <a:t>Webhook → Discord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核心程式碼 — ESP32 PIR + 智慧照明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Microsoft JhengHei"/>
              </a:defRPr>
            </a:pPr>
            <a:r>
              <a:t>esp32/main.py — MicroPython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6858000" cy="502920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# 硬體初始化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pir = Pin(27, Pin.IN, Pin.PULL_DOWN)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ldr = ADC(Pin(34))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ldr.atten(ADC.ATTN_11DB)  # 0-3.3V, ADC 0-4095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led = Pin(2, Pin.OUT)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while True: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ldr_value = ldr.read()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pir_value = pir.value()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# 手動覆蓋超時，恢復自動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if manual_override and \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(now - manual_override_time &gt; 60):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manual_override = False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# 智慧照明（手動模式下跳過）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if not manual_override: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if pir_value == 1: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# 有人 + 暗 → 開燈（供攝影機夜間辨識）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if ldr_value &lt; LIGHT_THRESHOLD: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set_led(client, True)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else: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set_led(client, False)  # 沒人 → 關燈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# PIR 觸發 → MQTT 通知 RPi 拍照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if pir_value == 1 and \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(now - last_pir_time &gt;= PIR_COOLDOWN):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client.publish("home/security/pir",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json.dumps({"triggered": True}))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645920"/>
            <a:ext cx="39319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7373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Microsoft JhengHei"/>
              </a:defRPr>
            </a:pPr>
            <a:r>
              <a:t>PIR 偵測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574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GPIO 27 偵測人體移動</a:t>
            </a:r>
            <a:br/>
            <a:r>
              <a:t>觸發 MQTT 通知 RPi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834640"/>
            <a:ext cx="39319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926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Microsoft JhengHei"/>
              </a:defRPr>
            </a:pPr>
            <a:r>
              <a:t>智慧照明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2461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有人+暗→開燈</a:t>
            </a:r>
            <a:br/>
            <a:r>
              <a:t>無人→關燈（省電）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023360"/>
            <a:ext cx="39319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41148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Microsoft JhengHei"/>
              </a:defRPr>
            </a:pPr>
            <a:r>
              <a:t>手動覆蓋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4348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Dashboard 控制後</a:t>
            </a:r>
            <a:br/>
            <a:r>
              <a:t>暫停自動 60 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5212080"/>
            <a:ext cx="39319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53035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Microsoft JhengHei"/>
              </a:defRPr>
            </a:pPr>
            <a:r>
              <a:t>MQTT 觸發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5623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PIR 觸發通知 RPi</a:t>
            </a:r>
            <a:br/>
            <a:r>
              <a:t>遠端啟動攝影機拍照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Web Dashboard 即時監控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Microsoft JhengHei"/>
              </a:defRPr>
            </a:pPr>
            <a:r>
              <a:t>Tailwind CSS + MQTT.js — 純靜態，無需後端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icrosoft JhengHei"/>
              </a:defRPr>
            </a:pPr>
            <a:r>
              <a:t>即時截圖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subscribe home/security/snapshot</a:t>
            </a:r>
            <a:br/>
            <a:r>
              <a:t>Base64 圖片即時渲染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Microsoft JhengHei"/>
              </a:defRPr>
            </a:pPr>
            <a:r>
              <a:t>PIR 感測器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subscribe home/security/pir</a:t>
            </a:r>
            <a:br/>
            <a:r>
              <a:t>即時顯示 PIR 狀態 0/1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icrosoft JhengHei"/>
              </a:defRPr>
            </a:pPr>
            <a:r>
              <a:t>警報事件列表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subscribe home/security/alert</a:t>
            </a:r>
            <a:br/>
            <a:r>
              <a:t>入侵警報即時顯示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Microsoft JhengHei"/>
              </a:defRPr>
            </a:pPr>
            <a:r>
              <a:t>環境亮度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subscribe home/sensor/light</a:t>
            </a:r>
            <a:br/>
            <a:r>
              <a:t>ESP32 ADC 即時數據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93192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Microsoft JhengHei"/>
              </a:defRPr>
            </a:pPr>
            <a:r>
              <a:t>燈光控制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572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publish home/light/control</a:t>
            </a:r>
            <a:br/>
            <a:r>
              <a:t>手動開關燈按鈕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93192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114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Microsoft JhengHei"/>
              </a:defRPr>
            </a:pPr>
            <a:r>
              <a:t>系統狀態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572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subscribe home/system/status</a:t>
            </a:r>
            <a:br/>
            <a:r>
              <a:t>CPU 溫度、運行時間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69280"/>
            <a:ext cx="1124712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760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技術亮點：MQTT.js 透過 WebSocket Secure（WSS）直連 HiveMQ Cloud，無需後端伺服器。前端純靜態 HTML/JS，可部署於任何 Web Server 或直接本地開啟。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Discord 即時通知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Microsoft JhengHei"/>
              </a:defRPr>
            </a:pPr>
            <a:r>
              <a:t>Webhook — 入侵警報 + 截圖推播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943600" cy="384048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def send_alert(message, image_base64=None):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embed =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"title": "入侵警報",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"description": message,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"color": 0xFF0000,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"timestamp": datetime.now().isoformat(),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"image": {"url": "attachment://snapshot.jpg"},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# 圖片用 multipart/form-data 上傳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image_data = base64.b64decode(image_base64)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files =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"payload_json": (None, json.dumps(payload)),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"files[0]": ("snapshot.jpg", BytesIO(image_data)),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requests.post(DISCORD_WEBHOOK_URL, files=files)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554480"/>
            <a:ext cx="4846320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6459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icrosoft JhengHei"/>
              </a:defRPr>
            </a:pPr>
            <a:r>
              <a:t>通知功能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19456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Embed 格式：標題 + 描述 + 時間戳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附帶入侵截圖（JPG 圖片）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multipart/form-data 上傳圖片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系統上線 / 下線通知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無需 Bot Token，使用 Webhook URL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專案目錄結構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6400800" cy="502920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AIOT_final/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config.py                  # RPi 設定檔（MQTT、Discord）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main.py                    # RPi 主程式入口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.env                       # 敏感資訊（MQTT 密碼、Webhook URL）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camera/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capture.py             # 攝影機擷取（OpenCV）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detector.py            # MobileNet SSD 人形偵測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model/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    ├── deploy.prototxt    # 模型定義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    └── mobilenet_ssd.caffemodel  # 預訓練權重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mqtt/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client.py              # MQTT 連線封裝（paho-mqtt v2）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notify/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discord_bot.py         # Discord Webhook 通知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web/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index.html             # Dashboard（Tailwind + MQTT.js）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esp32/                     # ESP32 MicroPython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boot.py                # WiFi 自動連線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main.py                # PIR+光敏+LED+MQTT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config.py              # ESP32 設定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lib/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    └── umqtt_simple.py    # MQTT 函式庫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└── snapshots/                 # 截圖儲存目錄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645920"/>
            <a:ext cx="43891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Microsoft JhengHei"/>
              </a:defRPr>
            </a:pPr>
            <a:r>
              <a:t>RPi 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0574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安防偵測 + 系統監控</a:t>
            </a:r>
            <a:br/>
            <a:r>
              <a:t>Python 3 + OpenCV + paho-mqtt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834640"/>
            <a:ext cx="43891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9260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Microsoft JhengHei"/>
              </a:defRPr>
            </a:pPr>
            <a:r>
              <a:t>ESP32 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2461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照明控制</a:t>
            </a:r>
            <a:br/>
            <a:r>
              <a:t>MicroPython + umqtt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23360"/>
            <a:ext cx="43891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4114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Microsoft JhengHei"/>
              </a:defRPr>
            </a:pPr>
            <a:r>
              <a:t>前端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443484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即時監控 Dashboard</a:t>
            </a:r>
            <a:br/>
            <a:r>
              <a:t>HTML/JS + Tailwind + MQTT.js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5212080"/>
            <a:ext cx="438912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5303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Microsoft JhengHei"/>
              </a:defRPr>
            </a:pPr>
            <a:r>
              <a:t>雲端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562356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HiveMQ Cloud Broker</a:t>
            </a:r>
            <a:br/>
            <a:r>
              <a:t>+ Discord Webhook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開發過程與問題解決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Microsoft JhengHei"/>
              </a:defRPr>
            </a:pPr>
            <a:r>
              <a:t>PIR 持續誤觸發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60020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原因：GPIO 浮接導致持續高電位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4389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Microsoft JhengHei"/>
              </a:defRPr>
            </a:pPr>
            <a:r>
              <a:t>解法：加入 pull-down 電阻 + 軟體冷卻機制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1124712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Microsoft JhengHei"/>
              </a:defRPr>
            </a:pPr>
            <a:r>
              <a:t>Haar Cascade 誤判衣服為人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6060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原因：upperbody 偵測器誤報率高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606040"/>
            <a:ext cx="4389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Microsoft JhengHei"/>
              </a:defRPr>
            </a:pPr>
            <a:r>
              <a:t>解法：改用 MobileNet SSD 深度學習模型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66160"/>
            <a:ext cx="1124712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Microsoft JhengHei"/>
              </a:defRPr>
            </a:pPr>
            <a:r>
              <a:t>PIR 與攝影機位置衝突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61188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原因：同一位置角度難以兼顧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611880"/>
            <a:ext cx="4389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Microsoft JhengHei"/>
              </a:defRPr>
            </a:pPr>
            <a:r>
              <a:t>解法：PIR 移至 ESP32，MQTT 遠端觸發 RPi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1124712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Microsoft JhengHei"/>
              </a:defRPr>
            </a:pPr>
            <a:r>
              <a:t>手動控燈被自動覆蓋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61772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原因：自動模式立即覆蓋手動操作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617720"/>
            <a:ext cx="4389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Microsoft JhengHei"/>
              </a:defRPr>
            </a:pPr>
            <a:r>
              <a:t>解法：manual_override 機制，暫停自動 60 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77840"/>
            <a:ext cx="1124712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623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Microsoft JhengHei"/>
              </a:defRPr>
            </a:pPr>
            <a:r>
              <a:t>ESP32 ussl 模組更名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62356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原因：MicroPython v1.25 ussl→ssl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5623560"/>
            <a:ext cx="4389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Microsoft JhengHei"/>
              </a:defRPr>
            </a:pPr>
            <a:r>
              <a:t>解法：umqtt_simple.py 加入 try/except 相容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JhengHei"/>
              </a:defRPr>
            </a:pPr>
            <a:r>
              <a:t>系統成果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828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icrosoft JhengHei"/>
              </a:defRPr>
            </a:pPr>
            <a:r>
              <a:t>安防偵測完整流程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Microsoft JhengHei"/>
              </a:defRPr>
            </a:pPr>
            <a:r>
              <a:t>ESP32 PIR → MQTT → RPi 連拍 3 張 → MobileNet SSD</a:t>
            </a:r>
            <a:br/>
            <a:r>
              <a:t>多幀驗證（2/3 通過）→ Discord 推播（含截圖）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4864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Microsoft JhengHei"/>
              </a:defRPr>
            </a:pPr>
            <a:r>
              <a:t>智慧照明控制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Microsoft JhengHei"/>
              </a:defRPr>
            </a:pPr>
            <a:r>
              <a:t>PIR 偵測有人 + 光敏判斷環境暗 → 自動開燈</a:t>
            </a:r>
            <a:br/>
            <a:r>
              <a:t>供攝影機夜間辨識。Dashboard 可手動控制（60 秒覆蓋）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54864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Microsoft JhengHei"/>
              </a:defRPr>
            </a:pPr>
            <a:r>
              <a:t>Web Dashboard 即時監控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Microsoft JhengHei"/>
              </a:defRPr>
            </a:pPr>
            <a:r>
              <a:t>MQTT.js 直連雲端 → 即時截圖、PIR 狀態、亮度數據</a:t>
            </a:r>
            <a:br/>
            <a:r>
              <a:t>燈光手動控制、警報記錄、系統狀態監控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931920"/>
            <a:ext cx="54864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114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Microsoft JhengHei"/>
              </a:defRPr>
            </a:pPr>
            <a:r>
              <a:t>雲端分散式架構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57200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Microsoft JhengHei"/>
              </a:defRPr>
            </a:pPr>
            <a:r>
              <a:t>PIR 在 ESP32、攝影機在 RPi，MQTT 解耦</a:t>
            </a:r>
            <a:br/>
            <a:r>
              <a:t>支援外網存取 + systemd 開機自啟動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icrosoft JhengHe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  <a:latin typeface="Microsoft JhengHei"/>
              </a:defRPr>
            </a:pPr>
            <a:r>
              <a:t>AIoT 智慧安防與環境感測系統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4114800"/>
            <a:ext cx="118872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8BDF8"/>
                </a:solidFill>
                <a:latin typeface="Consolas"/>
              </a:rPr>
              <a:t>Raspberry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4114800"/>
            <a:ext cx="118872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4ADE80"/>
                </a:solidFill>
                <a:latin typeface="Consolas"/>
              </a:rPr>
              <a:t>ESP32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4114800"/>
            <a:ext cx="118872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A78BFA"/>
                </a:solidFill>
                <a:latin typeface="Consolas"/>
              </a:rPr>
              <a:t>OpenCV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114800"/>
            <a:ext cx="118872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BBF24"/>
                </a:solidFill>
                <a:latin typeface="Consolas"/>
              </a:rPr>
              <a:t>MQTT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4114800"/>
            <a:ext cx="118872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87171"/>
                </a:solidFill>
                <a:latin typeface="Consolas"/>
              </a:rPr>
              <a:t>Discord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114800"/>
            <a:ext cx="118872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8BDF8"/>
                </a:solidFill>
                <a:latin typeface="Consolas"/>
              </a:rPr>
              <a:t>Tailwind CSS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